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1" r:id="rId7"/>
    <p:sldId id="260" r:id="rId8"/>
    <p:sldId id="277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1" r:id="rId17"/>
    <p:sldId id="279" r:id="rId18"/>
    <p:sldId id="269" r:id="rId19"/>
    <p:sldId id="272" r:id="rId20"/>
    <p:sldId id="273" r:id="rId21"/>
    <p:sldId id="274" r:id="rId22"/>
    <p:sldId id="278" r:id="rId23"/>
    <p:sldId id="275" r:id="rId24"/>
    <p:sldId id="276" r:id="rId2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60" autoAdjust="0"/>
  </p:normalViewPr>
  <p:slideViewPr>
    <p:cSldViewPr>
      <p:cViewPr>
        <p:scale>
          <a:sx n="70" d="100"/>
          <a:sy n="70" d="100"/>
        </p:scale>
        <p:origin x="-1302" y="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04849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6058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4592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83930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236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4624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453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95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190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1977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652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21055E-2B52-404A-AE54-0527D0F35627}" type="datetimeFigureOut">
              <a:rPr lang="pt-BR" smtClean="0"/>
              <a:t>04/10/2016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2D683B-E248-4017-B634-0D797C47002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5962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09600" y="1273175"/>
            <a:ext cx="7772400" cy="1470025"/>
          </a:xfrm>
        </p:spPr>
        <p:txBody>
          <a:bodyPr>
            <a:normAutofit/>
          </a:bodyPr>
          <a:lstStyle/>
          <a:p>
            <a:r>
              <a:rPr lang="pt-BR" sz="6000" b="1" dirty="0" smtClean="0"/>
              <a:t>TUTORIAL</a:t>
            </a:r>
            <a:endParaRPr lang="pt-BR" sz="6000" b="1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05000" y="3429000"/>
            <a:ext cx="6400800" cy="1752600"/>
          </a:xfrm>
        </p:spPr>
        <p:txBody>
          <a:bodyPr/>
          <a:lstStyle/>
          <a:p>
            <a:pPr algn="r"/>
            <a:r>
              <a:rPr lang="pt-BR" b="1" dirty="0" smtClean="0">
                <a:solidFill>
                  <a:schemeClr val="accent5"/>
                </a:solidFill>
              </a:rPr>
              <a:t>MAT253</a:t>
            </a:r>
          </a:p>
          <a:p>
            <a:pPr algn="r"/>
            <a:r>
              <a:rPr lang="pt-BR" b="1" dirty="0" smtClean="0">
                <a:solidFill>
                  <a:schemeClr val="accent5"/>
                </a:solidFill>
              </a:rPr>
              <a:t>Kiel IV</a:t>
            </a:r>
            <a:endParaRPr lang="pt-BR" b="1" dirty="0">
              <a:solidFill>
                <a:schemeClr val="accent5"/>
              </a:solidFill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4495800" y="5867400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dirty="0" smtClean="0"/>
              <a:t>Marília de Carvalho Campos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0286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b="1" dirty="0" smtClean="0"/>
              <a:t>Softwares</a:t>
            </a:r>
            <a:endParaRPr lang="pt-BR" sz="4800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pt-BR" dirty="0" err="1" smtClean="0"/>
              <a:t>Acquisition</a:t>
            </a:r>
            <a:r>
              <a:rPr lang="pt-BR" dirty="0" smtClean="0"/>
              <a:t>: utilizado para controlar e acompanhar as análises (e.g., passo a passo das análises, paralisa o script, controle manual de temperatura etc.)</a:t>
            </a:r>
          </a:p>
          <a:p>
            <a:pPr algn="just"/>
            <a:r>
              <a:rPr lang="pt-BR" dirty="0" err="1" smtClean="0"/>
              <a:t>WorkSpace</a:t>
            </a:r>
            <a:r>
              <a:rPr lang="pt-BR" dirty="0" smtClean="0"/>
              <a:t>: quando o MAT253_KielIV estiver rodando, utilizar esse software (muito parecido com o anterior, mas não roda amostras) para evitar qualquer alteração indesejada na rotina dos equipamentos (e.g., apertar sem querer alguma função que altera o passo a passo que está programado no método etc.) </a:t>
            </a:r>
          </a:p>
          <a:p>
            <a:r>
              <a:rPr lang="pt-BR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43369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810000" y="152400"/>
            <a:ext cx="5029200" cy="6555641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pt-BR" sz="2000" dirty="0" smtClean="0"/>
              <a:t>Checar antes de iniciar:</a:t>
            </a:r>
          </a:p>
          <a:p>
            <a:pPr algn="just"/>
            <a:endParaRPr lang="pt-BR" sz="2000" dirty="0" smtClean="0"/>
          </a:p>
          <a:p>
            <a:pPr marL="285750" indent="-285750" algn="just">
              <a:buFontTx/>
              <a:buChar char="-"/>
            </a:pPr>
            <a:r>
              <a:rPr lang="pt-BR" sz="2000" dirty="0" smtClean="0"/>
              <a:t>A fonte (filamento) deve estar ligada (vermelha = ligada). </a:t>
            </a:r>
            <a:r>
              <a:rPr lang="pt-BR" sz="2000" b="1" dirty="0" smtClean="0">
                <a:solidFill>
                  <a:srgbClr val="FF0000"/>
                </a:solidFill>
              </a:rPr>
              <a:t>1</a:t>
            </a:r>
          </a:p>
          <a:p>
            <a:pPr marL="285750" indent="-285750" algn="just">
              <a:buFontTx/>
              <a:buChar char="-"/>
            </a:pPr>
            <a:endParaRPr lang="pt-BR" sz="2000" dirty="0" smtClean="0"/>
          </a:p>
          <a:p>
            <a:pPr marL="285750" indent="-285750" algn="just">
              <a:buFontTx/>
              <a:buChar char="-"/>
            </a:pPr>
            <a:r>
              <a:rPr lang="pt-BR" sz="2000" dirty="0" smtClean="0"/>
              <a:t>A soma do Box + </a:t>
            </a:r>
            <a:r>
              <a:rPr lang="pt-BR" sz="2000" dirty="0" err="1" smtClean="0"/>
              <a:t>Trap</a:t>
            </a:r>
            <a:r>
              <a:rPr lang="pt-BR" sz="2000" dirty="0" smtClean="0"/>
              <a:t> deve ser 2 (0.69 </a:t>
            </a:r>
            <a:r>
              <a:rPr lang="pt-BR" sz="2000" dirty="0" err="1" smtClean="0"/>
              <a:t>mA</a:t>
            </a:r>
            <a:r>
              <a:rPr lang="pt-BR" sz="2000" dirty="0" smtClean="0"/>
              <a:t> + 1.30 </a:t>
            </a:r>
            <a:r>
              <a:rPr lang="pt-BR" sz="2000" dirty="0" err="1" smtClean="0"/>
              <a:t>mA</a:t>
            </a:r>
            <a:r>
              <a:rPr lang="pt-BR" sz="2000" dirty="0" smtClean="0"/>
              <a:t> = 2). </a:t>
            </a:r>
            <a:r>
              <a:rPr lang="pt-BR" sz="2000" b="1" dirty="0" smtClean="0">
                <a:solidFill>
                  <a:srgbClr val="FF0000"/>
                </a:solidFill>
              </a:rPr>
              <a:t>2</a:t>
            </a:r>
            <a:r>
              <a:rPr lang="pt-BR" sz="2000" dirty="0" smtClean="0"/>
              <a:t> e </a:t>
            </a:r>
            <a:r>
              <a:rPr lang="pt-BR" sz="2000" b="1" dirty="0" smtClean="0">
                <a:solidFill>
                  <a:srgbClr val="FF0000"/>
                </a:solidFill>
              </a:rPr>
              <a:t>3</a:t>
            </a:r>
            <a:r>
              <a:rPr lang="pt-BR" sz="2000" dirty="0" smtClean="0"/>
              <a:t> </a:t>
            </a:r>
          </a:p>
          <a:p>
            <a:pPr marL="285750" indent="-285750" algn="just">
              <a:buFontTx/>
              <a:buChar char="-"/>
            </a:pPr>
            <a:endParaRPr lang="pt-BR" sz="2000" dirty="0" smtClean="0"/>
          </a:p>
          <a:p>
            <a:pPr marL="285750" indent="-285750" algn="just">
              <a:buFontTx/>
              <a:buChar char="-"/>
            </a:pPr>
            <a:r>
              <a:rPr lang="pt-BR" sz="2000" dirty="0" smtClean="0"/>
              <a:t>Vácuo (</a:t>
            </a:r>
            <a:r>
              <a:rPr lang="pt-BR" sz="2000" dirty="0" err="1" smtClean="0"/>
              <a:t>Vac</a:t>
            </a:r>
            <a:r>
              <a:rPr lang="pt-BR" sz="2000" dirty="0" smtClean="0"/>
              <a:t>): 2.5 10</a:t>
            </a:r>
            <a:r>
              <a:rPr lang="pt-BR" sz="2000" baseline="30000" dirty="0" smtClean="0"/>
              <a:t>-8 </a:t>
            </a:r>
            <a:r>
              <a:rPr lang="pt-BR" sz="2000" dirty="0" smtClean="0"/>
              <a:t>(2.5e-008) </a:t>
            </a:r>
            <a:r>
              <a:rPr lang="pt-BR" sz="2000" dirty="0" err="1" smtClean="0"/>
              <a:t>mBar</a:t>
            </a:r>
            <a:r>
              <a:rPr lang="pt-BR" sz="2000" dirty="0" smtClean="0"/>
              <a:t>. </a:t>
            </a:r>
            <a:r>
              <a:rPr lang="pt-BR" sz="2000" b="1" dirty="0" smtClean="0">
                <a:solidFill>
                  <a:srgbClr val="FF0000"/>
                </a:solidFill>
              </a:rPr>
              <a:t>4</a:t>
            </a:r>
          </a:p>
          <a:p>
            <a:pPr marL="285750" indent="-285750" algn="just">
              <a:buFontTx/>
              <a:buChar char="-"/>
            </a:pPr>
            <a:endParaRPr lang="pt-BR" sz="2000" dirty="0" smtClean="0"/>
          </a:p>
          <a:p>
            <a:pPr marL="285750" indent="-285750" algn="just">
              <a:buFontTx/>
              <a:buChar char="-"/>
            </a:pPr>
            <a:endParaRPr lang="pt-BR" sz="2000" dirty="0"/>
          </a:p>
          <a:p>
            <a:pPr marL="342900" indent="-342900" algn="just">
              <a:buFontTx/>
              <a:buChar char="-"/>
            </a:pPr>
            <a:r>
              <a:rPr lang="pt-BR" sz="2000" dirty="0" smtClean="0"/>
              <a:t>Em MS </a:t>
            </a:r>
            <a:r>
              <a:rPr lang="pt-BR" sz="2000" dirty="0" err="1" smtClean="0"/>
              <a:t>State</a:t>
            </a:r>
            <a:r>
              <a:rPr lang="pt-BR" sz="2000" dirty="0" smtClean="0"/>
              <a:t> </a:t>
            </a:r>
            <a:r>
              <a:rPr lang="pt-BR" sz="2000" b="1" dirty="0" smtClean="0">
                <a:solidFill>
                  <a:srgbClr val="FF0000"/>
                </a:solidFill>
              </a:rPr>
              <a:t>5</a:t>
            </a:r>
            <a:r>
              <a:rPr lang="pt-BR" sz="2000" dirty="0" smtClean="0"/>
              <a:t> (refere-se as bombas), todas as bolinhas devem estar verdes, exceto </a:t>
            </a:r>
            <a:r>
              <a:rPr lang="pt-BR" sz="2000" dirty="0" err="1" smtClean="0"/>
              <a:t>Analyzer</a:t>
            </a:r>
            <a:r>
              <a:rPr lang="pt-BR" sz="2000" dirty="0" smtClean="0"/>
              <a:t> </a:t>
            </a:r>
            <a:r>
              <a:rPr lang="pt-BR" sz="2000" dirty="0" err="1" smtClean="0"/>
              <a:t>Heater</a:t>
            </a:r>
            <a:r>
              <a:rPr lang="pt-BR" sz="2000" dirty="0"/>
              <a:t> </a:t>
            </a:r>
            <a:r>
              <a:rPr lang="pt-BR" sz="2000" b="1" dirty="0" smtClean="0">
                <a:solidFill>
                  <a:srgbClr val="FF0000"/>
                </a:solidFill>
              </a:rPr>
              <a:t>6</a:t>
            </a:r>
            <a:r>
              <a:rPr lang="pt-BR" sz="2000" dirty="0" smtClean="0"/>
              <a:t> e </a:t>
            </a:r>
            <a:r>
              <a:rPr lang="pt-BR" sz="2000" dirty="0" err="1" smtClean="0"/>
              <a:t>Inlet</a:t>
            </a:r>
            <a:r>
              <a:rPr lang="pt-BR" sz="2000" dirty="0" smtClean="0"/>
              <a:t> </a:t>
            </a:r>
            <a:r>
              <a:rPr lang="pt-BR" sz="2000" dirty="0" err="1" smtClean="0"/>
              <a:t>Heater</a:t>
            </a:r>
            <a:r>
              <a:rPr lang="pt-BR" sz="2000" dirty="0"/>
              <a:t> </a:t>
            </a:r>
            <a:r>
              <a:rPr lang="pt-BR" sz="2000" b="1" dirty="0" smtClean="0">
                <a:solidFill>
                  <a:srgbClr val="FF0000"/>
                </a:solidFill>
              </a:rPr>
              <a:t>7</a:t>
            </a:r>
            <a:r>
              <a:rPr lang="pt-BR" sz="2000" dirty="0" smtClean="0"/>
              <a:t>, utilizados apenas em caso de testes no sistema e/ou quando o sistema “ventar” (perda de vácuo interno). O aquecimento de todo o sistema por uma dessas duas funções expulsa qualquer gás, em especial água, que tenha </a:t>
            </a:r>
            <a:r>
              <a:rPr lang="pt-BR" sz="2000" dirty="0"/>
              <a:t>adentrado </a:t>
            </a:r>
            <a:r>
              <a:rPr lang="pt-BR" sz="2000" dirty="0" smtClean="0"/>
              <a:t>e reestabelece </a:t>
            </a:r>
            <a:r>
              <a:rPr lang="pt-BR" sz="2000" dirty="0"/>
              <a:t>o vácuo no sistema.</a:t>
            </a:r>
          </a:p>
        </p:txBody>
      </p:sp>
      <p:pic>
        <p:nvPicPr>
          <p:cNvPr id="6" name="Espaço Reservado para Conteúdo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9" t="6215" r="15659" b="11783"/>
          <a:stretch/>
        </p:blipFill>
        <p:spPr>
          <a:xfrm>
            <a:off x="0" y="19665"/>
            <a:ext cx="3642360" cy="6761141"/>
          </a:xfrm>
          <a:prstGeom prst="rect">
            <a:avLst/>
          </a:prstGeom>
        </p:spPr>
      </p:pic>
      <p:sp>
        <p:nvSpPr>
          <p:cNvPr id="21" name="CaixaDeTexto 20"/>
          <p:cNvSpPr txBox="1"/>
          <p:nvPr/>
        </p:nvSpPr>
        <p:spPr>
          <a:xfrm>
            <a:off x="2095500" y="228600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2" name="CaixaDeTexto 21"/>
          <p:cNvSpPr txBox="1"/>
          <p:nvPr/>
        </p:nvSpPr>
        <p:spPr>
          <a:xfrm>
            <a:off x="31750" y="1738477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4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1600200" y="1307068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2565400" y="1248620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1524000" y="3586780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7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6" name="CaixaDeTexto 25"/>
          <p:cNvSpPr txBox="1"/>
          <p:nvPr/>
        </p:nvSpPr>
        <p:spPr>
          <a:xfrm>
            <a:off x="38100" y="3593068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6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990600" y="2895600"/>
            <a:ext cx="19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5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3645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89" r="5507" b="7880"/>
          <a:stretch/>
        </p:blipFill>
        <p:spPr>
          <a:xfrm>
            <a:off x="1" y="0"/>
            <a:ext cx="4963886" cy="6858000"/>
          </a:xfrm>
        </p:spPr>
      </p:pic>
      <p:sp>
        <p:nvSpPr>
          <p:cNvPr id="9" name="CaixaDeTexto 8"/>
          <p:cNvSpPr txBox="1"/>
          <p:nvPr/>
        </p:nvSpPr>
        <p:spPr>
          <a:xfrm>
            <a:off x="5105400" y="2166640"/>
            <a:ext cx="396240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- Bellow do CO2 referência (CO2ref) </a:t>
            </a:r>
            <a:r>
              <a:rPr lang="pt-BR" b="1" dirty="0" smtClean="0">
                <a:solidFill>
                  <a:srgbClr val="FF0000"/>
                </a:solidFill>
              </a:rPr>
              <a:t>4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Bellow do CO2 amostra (CO2a)</a:t>
            </a:r>
            <a:r>
              <a:rPr lang="pt-BR" b="1" dirty="0" smtClean="0">
                <a:solidFill>
                  <a:srgbClr val="FF0000"/>
                </a:solidFill>
              </a:rPr>
              <a:t> 5</a:t>
            </a:r>
            <a:r>
              <a:rPr lang="pt-BR" dirty="0" smtClean="0"/>
              <a:t>. Não estamos usando este </a:t>
            </a:r>
            <a:r>
              <a:rPr lang="pt-BR" dirty="0" err="1" smtClean="0"/>
              <a:t>bellow</a:t>
            </a:r>
            <a:r>
              <a:rPr lang="pt-BR" dirty="0" smtClean="0"/>
              <a:t>, o CO2a cai direto de </a:t>
            </a:r>
            <a:r>
              <a:rPr lang="pt-BR" b="1" dirty="0" smtClean="0">
                <a:solidFill>
                  <a:srgbClr val="FF0000"/>
                </a:solidFill>
              </a:rPr>
              <a:t>6 </a:t>
            </a:r>
            <a:r>
              <a:rPr lang="pt-BR" dirty="0" smtClean="0"/>
              <a:t>(conexão entre Kiel IV e MAT253, por meio do capilar metálico).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VM1 </a:t>
            </a:r>
            <a:r>
              <a:rPr lang="pt-BR" b="1" dirty="0" smtClean="0">
                <a:solidFill>
                  <a:srgbClr val="FF0000"/>
                </a:solidFill>
              </a:rPr>
              <a:t>7</a:t>
            </a:r>
            <a:r>
              <a:rPr lang="pt-BR" dirty="0" smtClean="0"/>
              <a:t>: quando o CO2a passar por </a:t>
            </a:r>
            <a:r>
              <a:rPr lang="pt-BR" b="1" dirty="0" smtClean="0">
                <a:solidFill>
                  <a:srgbClr val="FF0000"/>
                </a:solidFill>
              </a:rPr>
              <a:t>8</a:t>
            </a:r>
            <a:r>
              <a:rPr lang="pt-BR" dirty="0" smtClean="0"/>
              <a:t> a pressão em VM1 irá subir até se igualar a pressão do CO2a e, em seguida, quando o CO2a já tiver sido transferido para o </a:t>
            </a:r>
            <a:r>
              <a:rPr lang="pt-BR" dirty="0" err="1" smtClean="0"/>
              <a:t>trap</a:t>
            </a:r>
            <a:r>
              <a:rPr lang="pt-BR" dirty="0" smtClean="0"/>
              <a:t> 2, cairá novamente. 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T real </a:t>
            </a:r>
            <a:r>
              <a:rPr lang="pt-BR" b="1" dirty="0" smtClean="0">
                <a:solidFill>
                  <a:srgbClr val="FF0000"/>
                </a:solidFill>
              </a:rPr>
              <a:t>9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T ideal </a:t>
            </a:r>
            <a:r>
              <a:rPr lang="pt-BR" b="1" dirty="0" smtClean="0">
                <a:solidFill>
                  <a:srgbClr val="FF0000"/>
                </a:solidFill>
              </a:rPr>
              <a:t>10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T do ácido </a:t>
            </a:r>
            <a:r>
              <a:rPr lang="pt-BR" b="1" dirty="0" smtClean="0">
                <a:solidFill>
                  <a:srgbClr val="FF0000"/>
                </a:solidFill>
              </a:rPr>
              <a:t>11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1676400" y="773668"/>
            <a:ext cx="228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6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7" name="CaixaDeTexto 26"/>
          <p:cNvSpPr txBox="1"/>
          <p:nvPr/>
        </p:nvSpPr>
        <p:spPr>
          <a:xfrm>
            <a:off x="3421505" y="3832591"/>
            <a:ext cx="228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7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486400" y="191869"/>
            <a:ext cx="3009900" cy="166199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Checar antes de iniciar:</a:t>
            </a:r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pt-BR" dirty="0" smtClean="0"/>
              <a:t>Dual </a:t>
            </a:r>
            <a:r>
              <a:rPr lang="pt-BR" dirty="0" err="1" smtClean="0"/>
              <a:t>Inlet</a:t>
            </a:r>
            <a:r>
              <a:rPr lang="pt-BR" dirty="0" smtClean="0"/>
              <a:t> = MAT253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dirty="0" smtClean="0"/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pt-BR" dirty="0" smtClean="0"/>
              <a:t>Vácuo Dual </a:t>
            </a:r>
            <a:r>
              <a:rPr lang="pt-BR" dirty="0" err="1" smtClean="0"/>
              <a:t>Inlet</a:t>
            </a:r>
            <a:r>
              <a:rPr lang="pt-BR" dirty="0" smtClean="0"/>
              <a:t>: 2.5 10</a:t>
            </a:r>
            <a:r>
              <a:rPr lang="pt-BR" baseline="30000" dirty="0" smtClean="0"/>
              <a:t>-3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dirty="0" smtClean="0"/>
          </a:p>
          <a:p>
            <a:pPr marL="285750" indent="-285750" algn="just">
              <a:spcAft>
                <a:spcPts val="1200"/>
              </a:spcAft>
              <a:buFontTx/>
              <a:buChar char="-"/>
            </a:pPr>
            <a:r>
              <a:rPr lang="pt-BR" dirty="0" smtClean="0"/>
              <a:t>Vácuo Kiel IV: 4.04 10</a:t>
            </a:r>
            <a:r>
              <a:rPr lang="pt-BR" baseline="30000" dirty="0" smtClean="0"/>
              <a:t>-3 </a:t>
            </a:r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dirty="0"/>
          </a:p>
        </p:txBody>
      </p:sp>
      <p:sp>
        <p:nvSpPr>
          <p:cNvPr id="36" name="CaixaDeTexto 35"/>
          <p:cNvSpPr txBox="1"/>
          <p:nvPr/>
        </p:nvSpPr>
        <p:spPr>
          <a:xfrm>
            <a:off x="685800" y="87868"/>
            <a:ext cx="228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7" name="CaixaDeTexto 36"/>
          <p:cNvSpPr txBox="1"/>
          <p:nvPr/>
        </p:nvSpPr>
        <p:spPr>
          <a:xfrm>
            <a:off x="1905000" y="2653099"/>
            <a:ext cx="228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8" name="CaixaDeTexto 37"/>
          <p:cNvSpPr txBox="1"/>
          <p:nvPr/>
        </p:nvSpPr>
        <p:spPr>
          <a:xfrm>
            <a:off x="2667000" y="5486400"/>
            <a:ext cx="228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39" name="CaixaDeTexto 38"/>
          <p:cNvSpPr txBox="1"/>
          <p:nvPr/>
        </p:nvSpPr>
        <p:spPr>
          <a:xfrm>
            <a:off x="1066800" y="1600200"/>
            <a:ext cx="228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5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40" name="CaixaDeTexto 39"/>
          <p:cNvSpPr txBox="1"/>
          <p:nvPr/>
        </p:nvSpPr>
        <p:spPr>
          <a:xfrm>
            <a:off x="3505200" y="1600200"/>
            <a:ext cx="228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41" name="CaixaDeTexto 40"/>
          <p:cNvSpPr txBox="1"/>
          <p:nvPr/>
        </p:nvSpPr>
        <p:spPr>
          <a:xfrm>
            <a:off x="3124200" y="4267200"/>
            <a:ext cx="228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8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43" name="CaixaDeTexto 42"/>
          <p:cNvSpPr txBox="1"/>
          <p:nvPr/>
        </p:nvSpPr>
        <p:spPr>
          <a:xfrm>
            <a:off x="2514600" y="4126468"/>
            <a:ext cx="44720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9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44" name="CaixaDeTexto 43"/>
          <p:cNvSpPr txBox="1"/>
          <p:nvPr/>
        </p:nvSpPr>
        <p:spPr>
          <a:xfrm>
            <a:off x="4124793" y="4126468"/>
            <a:ext cx="44720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9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45" name="CaixaDeTexto 44"/>
          <p:cNvSpPr txBox="1"/>
          <p:nvPr/>
        </p:nvSpPr>
        <p:spPr>
          <a:xfrm>
            <a:off x="2590800" y="4771258"/>
            <a:ext cx="44720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10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46" name="CaixaDeTexto 45"/>
          <p:cNvSpPr txBox="1"/>
          <p:nvPr/>
        </p:nvSpPr>
        <p:spPr>
          <a:xfrm>
            <a:off x="4191000" y="4812268"/>
            <a:ext cx="44720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10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47" name="CaixaDeTexto 46"/>
          <p:cNvSpPr txBox="1"/>
          <p:nvPr/>
        </p:nvSpPr>
        <p:spPr>
          <a:xfrm>
            <a:off x="1381593" y="3803037"/>
            <a:ext cx="44720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11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128"/>
          <a:stretch/>
        </p:blipFill>
        <p:spPr>
          <a:xfrm>
            <a:off x="304801" y="304800"/>
            <a:ext cx="2819400" cy="3265714"/>
          </a:xfrm>
        </p:spPr>
      </p:pic>
      <p:sp>
        <p:nvSpPr>
          <p:cNvPr id="5" name="CaixaDeTexto 4"/>
          <p:cNvSpPr txBox="1"/>
          <p:nvPr/>
        </p:nvSpPr>
        <p:spPr>
          <a:xfrm>
            <a:off x="3733800" y="1295400"/>
            <a:ext cx="3962400" cy="190821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Checar antes de iniciar: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O ponteiro do relógio deve estar acima, ou muito próximo, da marca preta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, muito abaixo disso a quantidade de LN2 será insuficiente para a análise.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3581400" y="420468"/>
            <a:ext cx="525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Relógio de medição do volume de nitrogênio líquido (LN2) do reservatório grande</a:t>
            </a:r>
            <a:endParaRPr lang="pt-BR" b="1" dirty="0"/>
          </a:p>
        </p:txBody>
      </p:sp>
      <p:sp>
        <p:nvSpPr>
          <p:cNvPr id="7" name="CaixaDeTexto 6"/>
          <p:cNvSpPr txBox="1"/>
          <p:nvPr/>
        </p:nvSpPr>
        <p:spPr>
          <a:xfrm>
            <a:off x="990600" y="1459468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98" b="20793"/>
          <a:stretch/>
        </p:blipFill>
        <p:spPr>
          <a:xfrm>
            <a:off x="285750" y="3733800"/>
            <a:ext cx="3429000" cy="2917372"/>
          </a:xfrm>
          <a:prstGeom prst="rect">
            <a:avLst/>
          </a:prstGeom>
        </p:spPr>
      </p:pic>
      <p:sp>
        <p:nvSpPr>
          <p:cNvPr id="10" name="CaixaDeTexto 9"/>
          <p:cNvSpPr txBox="1"/>
          <p:nvPr/>
        </p:nvSpPr>
        <p:spPr>
          <a:xfrm>
            <a:off x="4152900" y="3733800"/>
            <a:ext cx="445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Relógio de medição da pressão do nitrogênio líquido (LN2) do </a:t>
            </a:r>
            <a:r>
              <a:rPr lang="pt-BR" b="1" dirty="0"/>
              <a:t>reservatório grande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038600" y="4416385"/>
            <a:ext cx="3962400" cy="190821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Checar antes de iniciar: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O ponteiro deve estar próximo a marca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  <a:r>
              <a:rPr lang="pt-BR" dirty="0" smtClean="0"/>
              <a:t>. Se o ponteiro chegar a posição vertical </a:t>
            </a:r>
            <a:r>
              <a:rPr lang="pt-BR" b="1" dirty="0" smtClean="0">
                <a:solidFill>
                  <a:srgbClr val="FF0000"/>
                </a:solidFill>
              </a:rPr>
              <a:t>3</a:t>
            </a:r>
            <a:r>
              <a:rPr lang="pt-BR" dirty="0" smtClean="0"/>
              <a:t> (alta pressão) a válvula posicionada acima do cilindro irá “aliviar” a pressão.</a:t>
            </a:r>
          </a:p>
        </p:txBody>
      </p:sp>
      <p:sp>
        <p:nvSpPr>
          <p:cNvPr id="13" name="CaixaDeTexto 12"/>
          <p:cNvSpPr txBox="1"/>
          <p:nvPr/>
        </p:nvSpPr>
        <p:spPr>
          <a:xfrm>
            <a:off x="1295400" y="4191000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057400" y="3872299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Espaço Reservado para Conteúdo 9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0800"/>
            <a:ext cx="5464629" cy="4098472"/>
          </a:xfrm>
        </p:spPr>
      </p:pic>
      <p:sp>
        <p:nvSpPr>
          <p:cNvPr id="11" name="CaixaDeTexto 10"/>
          <p:cNvSpPr txBox="1"/>
          <p:nvPr/>
        </p:nvSpPr>
        <p:spPr>
          <a:xfrm>
            <a:off x="5562600" y="152400"/>
            <a:ext cx="3429000" cy="400109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Checar antes de iniciar: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Antes de inserir o carrossel com as amostras, limpar delicadamente o excesso de ácido que pode ter acumulado na agulha de gotejamento de ácido </a:t>
            </a:r>
            <a:r>
              <a:rPr lang="pt-BR" b="1" dirty="0" smtClean="0">
                <a:solidFill>
                  <a:srgbClr val="FF0000"/>
                </a:solidFill>
              </a:rPr>
              <a:t>4</a:t>
            </a:r>
            <a:r>
              <a:rPr lang="pt-BR" dirty="0" smtClean="0"/>
              <a:t> e passar graxa no anel preto </a:t>
            </a:r>
            <a:r>
              <a:rPr lang="pt-BR" b="1" dirty="0" smtClean="0">
                <a:solidFill>
                  <a:srgbClr val="FF0000"/>
                </a:solidFill>
              </a:rPr>
              <a:t>5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A posição mostrada na foto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 deve ser a posição 1 e os </a:t>
            </a:r>
            <a:r>
              <a:rPr lang="pt-BR" dirty="0" err="1" smtClean="0"/>
              <a:t>vials</a:t>
            </a:r>
            <a:r>
              <a:rPr lang="pt-BR" dirty="0" smtClean="0"/>
              <a:t> devem estar limpos e vazios (utilizados para teste do equipamento – teste de ácido, de vácuo etc.)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3505200" y="5334000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248400" y="5067181"/>
            <a:ext cx="22860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dirty="0" smtClean="0"/>
              <a:t>Linha 1 / Posição 1 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</a:p>
          <a:p>
            <a:pPr>
              <a:spcAft>
                <a:spcPts val="1200"/>
              </a:spcAft>
            </a:pPr>
            <a:r>
              <a:rPr lang="pt-BR" dirty="0" smtClean="0"/>
              <a:t>Linha 2 / Posição 1  </a:t>
            </a:r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3352800" y="4944374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1524000" y="4859102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6" name="CaixaDeTexto 15"/>
          <p:cNvSpPr txBox="1"/>
          <p:nvPr/>
        </p:nvSpPr>
        <p:spPr>
          <a:xfrm>
            <a:off x="381000" y="838200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Forno (70°C) onde ocorre a reação do carbonato (Kiel IV)</a:t>
            </a:r>
            <a:endParaRPr lang="pt-BR" b="1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3657600" y="3733800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5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828800" y="3657600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5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3124200" y="4038600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4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1447800" y="4038600"/>
            <a:ext cx="3048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4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28600"/>
            <a:ext cx="2950029" cy="3933372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114800" y="228600"/>
            <a:ext cx="4495800" cy="1354217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Checar antes de iniciar: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Abrir a válvula de ácido fosfórico. A posição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 é aberta (sempre que uma válvula estiver “seguindo” a linha é porque ela está aberta). *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1828800" y="2133600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2411" y="1940481"/>
            <a:ext cx="3402389" cy="4536519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446314" y="4942582"/>
            <a:ext cx="3352800" cy="107721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Checar antes de iniciar: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Abrir a válvula do cilindro de CO2r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  <a:r>
              <a:rPr lang="pt-BR" dirty="0" smtClean="0"/>
              <a:t>. *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6248400" y="3352800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2" name="CaixaDeTexto 1"/>
          <p:cNvSpPr txBox="1"/>
          <p:nvPr/>
        </p:nvSpPr>
        <p:spPr>
          <a:xfrm>
            <a:off x="0" y="6504801"/>
            <a:ext cx="44427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smtClean="0"/>
              <a:t>* Quando não estiver usando, lembrar de manter fechada.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4114800" y="228600"/>
            <a:ext cx="4495800" cy="190821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Checar antes de iniciar:</a:t>
            </a:r>
          </a:p>
          <a:p>
            <a:pPr algn="just">
              <a:spcAft>
                <a:spcPts val="1200"/>
              </a:spcAft>
            </a:pPr>
            <a:r>
              <a:rPr lang="pt-BR" dirty="0" smtClean="0"/>
              <a:t>-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 (localizado na parede traseira aos equipamentos) não pode estar com muita água. Caso estiver, cheque se o desumidificador está funcionando e pressione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  <a:r>
              <a:rPr lang="pt-BR" dirty="0" smtClean="0"/>
              <a:t> para liberar a água acumulada.</a:t>
            </a:r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4452296" y="3002340"/>
            <a:ext cx="40059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/>
              <a:t>Dentro do MAT253 também há um acumulador de água/gás </a:t>
            </a:r>
            <a:r>
              <a:rPr lang="pt-BR" sz="1600" b="1" dirty="0">
                <a:solidFill>
                  <a:srgbClr val="FF0000"/>
                </a:solidFill>
              </a:rPr>
              <a:t>3</a:t>
            </a:r>
            <a:r>
              <a:rPr lang="pt-BR" sz="1600" dirty="0" smtClean="0"/>
              <a:t>. Checar com certa frequência o acúmulo de água no seu interior e proceder da mesma forma descrita acima. Mas aqui, é preciso </a:t>
            </a:r>
            <a:r>
              <a:rPr lang="pt-BR" sz="1600" dirty="0" err="1" smtClean="0"/>
              <a:t>desrosquear</a:t>
            </a:r>
            <a:r>
              <a:rPr lang="pt-BR" sz="1600" dirty="0" smtClean="0"/>
              <a:t> </a:t>
            </a:r>
            <a:r>
              <a:rPr lang="pt-BR" sz="1600" dirty="0"/>
              <a:t>um parafuso </a:t>
            </a:r>
            <a:r>
              <a:rPr lang="pt-BR" sz="1600" dirty="0" smtClean="0"/>
              <a:t>para liberar a água/gás e </a:t>
            </a:r>
            <a:r>
              <a:rPr lang="pt-BR" sz="1600" dirty="0" err="1" smtClean="0"/>
              <a:t>rosqueá-lo</a:t>
            </a:r>
            <a:r>
              <a:rPr lang="pt-BR" sz="1600" dirty="0" smtClean="0"/>
              <a:t> </a:t>
            </a:r>
            <a:r>
              <a:rPr lang="pt-BR" sz="1600" dirty="0" smtClean="0"/>
              <a:t>novamente.  </a:t>
            </a:r>
            <a:endParaRPr lang="pt-BR" sz="1600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400"/>
            <a:ext cx="2453311" cy="327108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" y="3632200"/>
            <a:ext cx="2362200" cy="31496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1676400" y="1603274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1828800" y="2693747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219200" y="4888468"/>
            <a:ext cx="1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147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113"/>
          <a:stretch/>
        </p:blipFill>
        <p:spPr>
          <a:xfrm>
            <a:off x="-14513" y="2322679"/>
            <a:ext cx="4891314" cy="4535321"/>
          </a:xfrm>
        </p:spPr>
      </p:pic>
      <p:sp>
        <p:nvSpPr>
          <p:cNvPr id="6" name="CaixaDeTexto 5"/>
          <p:cNvSpPr txBox="1"/>
          <p:nvPr/>
        </p:nvSpPr>
        <p:spPr>
          <a:xfrm>
            <a:off x="5029200" y="1828800"/>
            <a:ext cx="3962400" cy="493981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500" dirty="0" smtClean="0"/>
              <a:t>Checar antes de iniciar:</a:t>
            </a:r>
          </a:p>
          <a:p>
            <a:pPr>
              <a:spcAft>
                <a:spcPts val="1200"/>
              </a:spcAft>
            </a:pPr>
            <a:r>
              <a:rPr lang="pt-BR" sz="1500" dirty="0" smtClean="0"/>
              <a:t>Em “</a:t>
            </a:r>
            <a:r>
              <a:rPr lang="pt-BR" sz="1500" dirty="0" err="1" smtClean="0"/>
              <a:t>Comment</a:t>
            </a:r>
            <a:r>
              <a:rPr lang="pt-BR" sz="1500" dirty="0" smtClean="0"/>
              <a:t>” </a:t>
            </a:r>
            <a:r>
              <a:rPr lang="pt-BR" sz="1500" b="1" dirty="0" smtClean="0">
                <a:solidFill>
                  <a:srgbClr val="FF0000"/>
                </a:solidFill>
              </a:rPr>
              <a:t>2 </a:t>
            </a:r>
            <a:r>
              <a:rPr lang="pt-BR" sz="1500" dirty="0" smtClean="0"/>
              <a:t>checar:</a:t>
            </a:r>
          </a:p>
          <a:p>
            <a:pPr>
              <a:spcAft>
                <a:spcPts val="1200"/>
              </a:spcAft>
            </a:pPr>
            <a:r>
              <a:rPr lang="pt-BR" sz="1500" dirty="0" smtClean="0"/>
              <a:t>- Se RR (tempo de refil) está correto (varia de acordo com a massa que irá analisar)</a:t>
            </a:r>
          </a:p>
          <a:p>
            <a:pPr>
              <a:spcAft>
                <a:spcPts val="1200"/>
              </a:spcAft>
            </a:pPr>
            <a:r>
              <a:rPr lang="pt-BR" sz="1500" dirty="0" smtClean="0"/>
              <a:t>- Número de gotas = 3 </a:t>
            </a:r>
            <a:r>
              <a:rPr lang="pt-BR" sz="1500" dirty="0" err="1" smtClean="0"/>
              <a:t>drops</a:t>
            </a:r>
            <a:endParaRPr lang="pt-BR" sz="1500" dirty="0" smtClean="0"/>
          </a:p>
          <a:p>
            <a:pPr>
              <a:spcAft>
                <a:spcPts val="1200"/>
              </a:spcAft>
            </a:pPr>
            <a:r>
              <a:rPr lang="pt-BR" sz="1500" dirty="0" smtClean="0"/>
              <a:t>- Tempo de reação (reaction1) = 600 </a:t>
            </a:r>
            <a:r>
              <a:rPr lang="pt-BR" sz="1500" dirty="0" err="1" smtClean="0"/>
              <a:t>seg</a:t>
            </a:r>
            <a:endParaRPr lang="pt-BR" sz="1500" dirty="0" smtClean="0"/>
          </a:p>
          <a:p>
            <a:pPr>
              <a:spcAft>
                <a:spcPts val="1200"/>
              </a:spcAft>
            </a:pPr>
            <a:r>
              <a:rPr lang="pt-BR" sz="1500" dirty="0" smtClean="0"/>
              <a:t>-  Tempo de transferência (</a:t>
            </a:r>
            <a:r>
              <a:rPr lang="pt-BR" sz="1500" dirty="0" err="1" smtClean="0"/>
              <a:t>tranfer</a:t>
            </a:r>
            <a:r>
              <a:rPr lang="pt-BR" sz="1500" dirty="0"/>
              <a:t>)</a:t>
            </a:r>
            <a:r>
              <a:rPr lang="pt-BR" sz="1500" dirty="0" smtClean="0"/>
              <a:t> = 90 </a:t>
            </a:r>
            <a:r>
              <a:rPr lang="pt-BR" sz="1500" dirty="0" err="1" smtClean="0"/>
              <a:t>seg</a:t>
            </a:r>
            <a:endParaRPr lang="pt-BR" sz="1500" dirty="0" smtClean="0"/>
          </a:p>
          <a:p>
            <a:pPr>
              <a:spcAft>
                <a:spcPts val="1200"/>
              </a:spcAft>
            </a:pPr>
            <a:r>
              <a:rPr lang="pt-BR" sz="1500" dirty="0" smtClean="0"/>
              <a:t>- </a:t>
            </a:r>
            <a:r>
              <a:rPr lang="pt-BR" sz="1500" dirty="0" err="1" smtClean="0"/>
              <a:t>Cilinder</a:t>
            </a:r>
            <a:r>
              <a:rPr lang="pt-BR" sz="1500" dirty="0" smtClean="0"/>
              <a:t> 27Aug15: última data que o cilindro foi calibrado (o valor de d18O e d13C do cilindro estão marcados em post it na </a:t>
            </a:r>
            <a:r>
              <a:rPr lang="pt-BR" sz="1500" dirty="0" err="1" smtClean="0"/>
              <a:t>cpu</a:t>
            </a:r>
            <a:r>
              <a:rPr lang="pt-BR" sz="1500" dirty="0" smtClean="0"/>
              <a:t>)</a:t>
            </a:r>
          </a:p>
          <a:p>
            <a:pPr>
              <a:spcAft>
                <a:spcPts val="1200"/>
              </a:spcAft>
            </a:pPr>
            <a:r>
              <a:rPr lang="pt-BR" sz="1500" dirty="0" smtClean="0"/>
              <a:t>- V </a:t>
            </a:r>
            <a:r>
              <a:rPr lang="pt-BR" sz="1500" dirty="0" err="1" smtClean="0"/>
              <a:t>exp</a:t>
            </a:r>
            <a:r>
              <a:rPr lang="pt-BR" sz="1500" dirty="0" smtClean="0"/>
              <a:t> = 1200 (volume a partir do qual o gás sofrerá expansão) </a:t>
            </a:r>
          </a:p>
          <a:p>
            <a:pPr>
              <a:spcAft>
                <a:spcPts val="1200"/>
              </a:spcAft>
            </a:pPr>
            <a:r>
              <a:rPr lang="pt-BR" sz="1500" dirty="0" smtClean="0"/>
              <a:t>Em Refil Time (s) </a:t>
            </a:r>
            <a:r>
              <a:rPr lang="pt-BR" sz="1500" b="1" dirty="0" smtClean="0">
                <a:solidFill>
                  <a:srgbClr val="FF0000"/>
                </a:solidFill>
              </a:rPr>
              <a:t>3</a:t>
            </a:r>
            <a:r>
              <a:rPr lang="pt-BR" sz="1500" dirty="0" smtClean="0"/>
              <a:t> inserir o tempo de refil (e.g., 25) novamente</a:t>
            </a:r>
          </a:p>
          <a:p>
            <a:pPr>
              <a:spcAft>
                <a:spcPts val="1200"/>
              </a:spcAft>
            </a:pPr>
            <a:r>
              <a:rPr lang="pt-BR" sz="1500" dirty="0" smtClean="0"/>
              <a:t>- Não mexer em mais nada</a:t>
            </a:r>
            <a:endParaRPr lang="pt-BR" sz="15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942833" y="28956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3429000" y="59552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2819400" y="228600"/>
            <a:ext cx="6172200" cy="156966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Checar antes de iniciar:</a:t>
            </a:r>
          </a:p>
          <a:p>
            <a:r>
              <a:rPr lang="pt-BR" sz="1600" dirty="0" smtClean="0"/>
              <a:t>Em métodos </a:t>
            </a:r>
            <a:r>
              <a:rPr lang="pt-BR" sz="1600" b="1" dirty="0" smtClean="0">
                <a:solidFill>
                  <a:srgbClr val="FF0000"/>
                </a:solidFill>
              </a:rPr>
              <a:t>1 </a:t>
            </a:r>
            <a:r>
              <a:rPr lang="pt-BR" sz="1600" dirty="0" smtClean="0"/>
              <a:t>escolher qual será o método utilizado na análise (eu salvei um método com o meu nome, está na foto seguinte). Caso queira alterar algo e manter os dois métodos salvos é só fazer as alterações desejadas e salvar com outro nome (para tanto usar a setinha direita do botão </a:t>
            </a:r>
            <a:r>
              <a:rPr lang="pt-BR" sz="1600" dirty="0" err="1" smtClean="0"/>
              <a:t>save</a:t>
            </a:r>
            <a:r>
              <a:rPr lang="pt-BR" sz="1600" dirty="0" smtClean="0"/>
              <a:t> &gt;&gt; </a:t>
            </a:r>
            <a:r>
              <a:rPr lang="pt-BR" sz="1600" dirty="0" err="1" smtClean="0"/>
              <a:t>save</a:t>
            </a:r>
            <a:r>
              <a:rPr lang="pt-BR" sz="1600" dirty="0" smtClean="0"/>
              <a:t> </a:t>
            </a:r>
            <a:r>
              <a:rPr lang="pt-BR" sz="1600" dirty="0" smtClean="0"/>
              <a:t>as) </a:t>
            </a:r>
            <a:endParaRPr lang="pt-BR" sz="1600" dirty="0"/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999"/>
          <a:stretch/>
        </p:blipFill>
        <p:spPr>
          <a:xfrm>
            <a:off x="19050" y="152400"/>
            <a:ext cx="2571750" cy="2023131"/>
          </a:xfrm>
          <a:prstGeom prst="rect">
            <a:avLst/>
          </a:prstGeom>
        </p:spPr>
      </p:pic>
      <p:sp>
        <p:nvSpPr>
          <p:cNvPr id="11" name="CaixaDeTexto 10"/>
          <p:cNvSpPr txBox="1"/>
          <p:nvPr/>
        </p:nvSpPr>
        <p:spPr>
          <a:xfrm>
            <a:off x="228600" y="8498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609600"/>
            <a:ext cx="6034617" cy="4525963"/>
          </a:xfrm>
        </p:spPr>
      </p:pic>
      <p:sp>
        <p:nvSpPr>
          <p:cNvPr id="5" name="CaixaDeTexto 4"/>
          <p:cNvSpPr txBox="1"/>
          <p:nvPr/>
        </p:nvSpPr>
        <p:spPr>
          <a:xfrm>
            <a:off x="6096000" y="621268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/>
              <a:t>Interface do </a:t>
            </a:r>
            <a:r>
              <a:rPr lang="pt-BR" b="1" dirty="0" err="1" smtClean="0"/>
              <a:t>Peripherals</a:t>
            </a:r>
            <a:endParaRPr lang="pt-BR" b="1" dirty="0"/>
          </a:p>
        </p:txBody>
      </p:sp>
      <p:sp>
        <p:nvSpPr>
          <p:cNvPr id="6" name="CaixaDeTexto 5"/>
          <p:cNvSpPr txBox="1"/>
          <p:nvPr/>
        </p:nvSpPr>
        <p:spPr>
          <a:xfrm>
            <a:off x="6324600" y="4191000"/>
            <a:ext cx="236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As variáveis dessa interface devem ser mantidas dessa forma.</a:t>
            </a:r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910" b="12917"/>
          <a:stretch/>
        </p:blipFill>
        <p:spPr>
          <a:xfrm>
            <a:off x="-76200" y="4953000"/>
            <a:ext cx="6035040" cy="1546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42" b="34333"/>
          <a:stretch/>
        </p:blipFill>
        <p:spPr>
          <a:xfrm>
            <a:off x="457200" y="457200"/>
            <a:ext cx="4728739" cy="4572000"/>
          </a:xfrm>
        </p:spPr>
      </p:pic>
      <p:sp>
        <p:nvSpPr>
          <p:cNvPr id="5" name="CaixaDeTexto 4"/>
          <p:cNvSpPr txBox="1"/>
          <p:nvPr/>
        </p:nvSpPr>
        <p:spPr>
          <a:xfrm>
            <a:off x="5562600" y="3962400"/>
            <a:ext cx="3124200" cy="20313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dirty="0" smtClean="0"/>
              <a:t>Em “</a:t>
            </a:r>
            <a:r>
              <a:rPr lang="pt-BR" dirty="0" err="1" smtClean="0"/>
              <a:t>Sequences</a:t>
            </a:r>
            <a:r>
              <a:rPr lang="pt-BR" dirty="0" smtClean="0"/>
              <a:t>” escolher a sequência que será utilizada na análise. No caso, estávamos rodando NBS19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, mas poderia criar uma nova sequência em cima dessa e salvar com outro nome.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1945375" y="35168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453"/>
          <a:stretch/>
        </p:blipFill>
        <p:spPr>
          <a:xfrm>
            <a:off x="0" y="61415"/>
            <a:ext cx="6417547" cy="4358185"/>
          </a:xfrm>
        </p:spPr>
      </p:pic>
      <p:sp>
        <p:nvSpPr>
          <p:cNvPr id="5" name="CaixaDeTexto 4"/>
          <p:cNvSpPr txBox="1"/>
          <p:nvPr/>
        </p:nvSpPr>
        <p:spPr>
          <a:xfrm>
            <a:off x="1" y="4419600"/>
            <a:ext cx="9143999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6</a:t>
            </a:r>
            <a:r>
              <a:rPr lang="pt-BR" sz="1600" dirty="0" smtClean="0"/>
              <a:t> Linhas 1 ou 2.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7</a:t>
            </a:r>
            <a:r>
              <a:rPr lang="pt-BR" sz="1600" dirty="0" smtClean="0"/>
              <a:t> </a:t>
            </a:r>
            <a:r>
              <a:rPr lang="pt-BR" sz="1600" dirty="0" err="1" smtClean="0"/>
              <a:t>Sample</a:t>
            </a:r>
            <a:r>
              <a:rPr lang="pt-BR" sz="1600" dirty="0" smtClean="0"/>
              <a:t>: começa em 2 (linha 1) 2 (linha 2), pois as linhas 1 e 2 da posição 1 são </a:t>
            </a:r>
            <a:r>
              <a:rPr lang="pt-BR" sz="1600" dirty="0" err="1" smtClean="0"/>
              <a:t>vials</a:t>
            </a:r>
            <a:r>
              <a:rPr lang="pt-BR" sz="1600" dirty="0" smtClean="0"/>
              <a:t> vazios.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8</a:t>
            </a:r>
            <a:r>
              <a:rPr lang="pt-BR" sz="1600" dirty="0" smtClean="0"/>
              <a:t> Massa estimada das amostras de carbonato.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9</a:t>
            </a:r>
            <a:r>
              <a:rPr lang="pt-BR" sz="1600" dirty="0" smtClean="0"/>
              <a:t> </a:t>
            </a:r>
            <a:r>
              <a:rPr lang="pt-BR" sz="1600" dirty="0" err="1" smtClean="0"/>
              <a:t>Identifier</a:t>
            </a:r>
            <a:r>
              <a:rPr lang="pt-BR" sz="1600" dirty="0" smtClean="0"/>
              <a:t> 1: descrição das amostras criada por mim (deve ser uma descrição curta e objetiva).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10</a:t>
            </a:r>
            <a:r>
              <a:rPr lang="pt-BR" sz="1600" dirty="0" smtClean="0"/>
              <a:t> </a:t>
            </a:r>
            <a:r>
              <a:rPr lang="pt-BR" sz="1600" dirty="0" err="1" smtClean="0"/>
              <a:t>Identifier</a:t>
            </a:r>
            <a:r>
              <a:rPr lang="pt-BR" sz="1600" dirty="0" smtClean="0"/>
              <a:t> 2: adicional de descrição [e.g., usamos para diferenciar amostras lavadas com diferentes águas (teste que fizemos para saber se a água do </a:t>
            </a:r>
            <a:r>
              <a:rPr lang="pt-BR" sz="1600" dirty="0" err="1" smtClean="0"/>
              <a:t>miliQ</a:t>
            </a:r>
            <a:r>
              <a:rPr lang="pt-BR" sz="1600" dirty="0" smtClean="0"/>
              <a:t> estava ácida)].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11</a:t>
            </a:r>
            <a:r>
              <a:rPr lang="pt-BR" sz="1600" dirty="0" smtClean="0"/>
              <a:t> Comentários, se houver.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12</a:t>
            </a:r>
            <a:r>
              <a:rPr lang="pt-BR" sz="1600" dirty="0" smtClean="0"/>
              <a:t> Método que será utilizado na análise.</a:t>
            </a:r>
            <a:endParaRPr lang="pt-BR" sz="16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6477000" y="76200"/>
            <a:ext cx="25908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1</a:t>
            </a:r>
            <a:r>
              <a:rPr lang="pt-BR" sz="1600" dirty="0" smtClean="0"/>
              <a:t> Linhas (</a:t>
            </a:r>
            <a:r>
              <a:rPr lang="pt-BR" sz="1600" dirty="0" err="1" smtClean="0"/>
              <a:t>row</a:t>
            </a:r>
            <a:r>
              <a:rPr lang="pt-BR" sz="1600" dirty="0" smtClean="0"/>
              <a:t>).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2</a:t>
            </a:r>
            <a:r>
              <a:rPr lang="pt-BR" sz="1600" dirty="0" smtClean="0"/>
              <a:t> </a:t>
            </a:r>
            <a:r>
              <a:rPr lang="pt-BR" sz="1600" dirty="0" err="1" smtClean="0"/>
              <a:t>Peak</a:t>
            </a:r>
            <a:r>
              <a:rPr lang="pt-BR" sz="1600" dirty="0" smtClean="0"/>
              <a:t> center: deixar sempre todas as </a:t>
            </a:r>
            <a:r>
              <a:rPr lang="pt-BR" sz="1600" dirty="0" err="1" smtClean="0"/>
              <a:t>cells</a:t>
            </a:r>
            <a:r>
              <a:rPr lang="pt-BR" sz="1600" dirty="0" smtClean="0"/>
              <a:t> selecionadas.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3</a:t>
            </a:r>
            <a:r>
              <a:rPr lang="pt-BR" sz="1600" dirty="0" smtClean="0"/>
              <a:t> Background: sempre o primeiro e o último </a:t>
            </a:r>
            <a:r>
              <a:rPr lang="pt-BR" sz="1600" dirty="0" err="1" smtClean="0"/>
              <a:t>vials</a:t>
            </a:r>
            <a:r>
              <a:rPr lang="pt-BR" sz="1600" dirty="0" smtClean="0"/>
              <a:t> (no caso estávamos apenas com 22 </a:t>
            </a:r>
            <a:r>
              <a:rPr lang="pt-BR" sz="1600" dirty="0" err="1" smtClean="0"/>
              <a:t>vials</a:t>
            </a:r>
            <a:r>
              <a:rPr lang="pt-BR" sz="1600" dirty="0" smtClean="0"/>
              <a:t> no carrossel, por isso a linha 22 está selecionada).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4</a:t>
            </a:r>
            <a:r>
              <a:rPr lang="pt-BR" sz="1600" dirty="0" smtClean="0"/>
              <a:t> Ajuste do </a:t>
            </a:r>
            <a:r>
              <a:rPr lang="pt-BR" sz="1600" dirty="0" err="1" smtClean="0"/>
              <a:t>bellow</a:t>
            </a:r>
            <a:r>
              <a:rPr lang="pt-BR" sz="1600" dirty="0" smtClean="0"/>
              <a:t> do CO2r (</a:t>
            </a:r>
            <a:r>
              <a:rPr lang="pt-BR" sz="1600" dirty="0" err="1" smtClean="0"/>
              <a:t>PressAdjust</a:t>
            </a:r>
            <a:r>
              <a:rPr lang="pt-BR" sz="1600" dirty="0" smtClean="0"/>
              <a:t>): deixar sempre todas as </a:t>
            </a:r>
            <a:r>
              <a:rPr lang="pt-BR" sz="1600" dirty="0" err="1" smtClean="0"/>
              <a:t>cells</a:t>
            </a:r>
            <a:r>
              <a:rPr lang="pt-BR" sz="1600" dirty="0" smtClean="0"/>
              <a:t> selecionadas. </a:t>
            </a:r>
          </a:p>
          <a:p>
            <a:pPr algn="just">
              <a:spcAft>
                <a:spcPts val="600"/>
              </a:spcAft>
            </a:pPr>
            <a:r>
              <a:rPr lang="pt-BR" sz="1600" b="1" dirty="0" smtClean="0">
                <a:solidFill>
                  <a:srgbClr val="FF0000"/>
                </a:solidFill>
              </a:rPr>
              <a:t>5</a:t>
            </a:r>
            <a:r>
              <a:rPr lang="pt-BR" sz="1600" dirty="0" smtClean="0"/>
              <a:t> Tempo de refil: se escolher um tempo de refil adequado, não é preciso selecionar todas as </a:t>
            </a:r>
            <a:r>
              <a:rPr lang="pt-BR" sz="1600" dirty="0" err="1" smtClean="0"/>
              <a:t>cell</a:t>
            </a:r>
            <a:r>
              <a:rPr lang="pt-BR" sz="1600" dirty="0" smtClean="0"/>
              <a:t>, uma a cada 5 </a:t>
            </a:r>
            <a:r>
              <a:rPr lang="pt-BR" sz="1600" dirty="0" err="1" smtClean="0"/>
              <a:t>cells</a:t>
            </a:r>
            <a:r>
              <a:rPr lang="pt-BR" sz="1600" dirty="0" smtClean="0"/>
              <a:t> deve ser suficiente.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228600" y="256401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1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495300" y="256401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2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0" name="CaixaDeTexto 19"/>
          <p:cNvSpPr txBox="1"/>
          <p:nvPr/>
        </p:nvSpPr>
        <p:spPr>
          <a:xfrm>
            <a:off x="685800" y="256401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3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>
            <a:off x="838200" y="256401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" name="CaixaDeTexto 21"/>
          <p:cNvSpPr txBox="1"/>
          <p:nvPr/>
        </p:nvSpPr>
        <p:spPr>
          <a:xfrm>
            <a:off x="981075" y="256400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23" name="CaixaDeTexto 22"/>
          <p:cNvSpPr txBox="1"/>
          <p:nvPr/>
        </p:nvSpPr>
        <p:spPr>
          <a:xfrm>
            <a:off x="1247775" y="257174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6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1600200" y="262323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7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5" name="CaixaDeTexto 24"/>
          <p:cNvSpPr txBox="1"/>
          <p:nvPr/>
        </p:nvSpPr>
        <p:spPr>
          <a:xfrm>
            <a:off x="2009775" y="262323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8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2400300" y="256399"/>
            <a:ext cx="228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rgbClr val="FF0000"/>
                </a:solidFill>
              </a:rPr>
              <a:t>9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2676525" y="257174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10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8" name="CaixaDeTexto 27"/>
          <p:cNvSpPr txBox="1"/>
          <p:nvPr/>
        </p:nvSpPr>
        <p:spPr>
          <a:xfrm>
            <a:off x="3200400" y="262323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11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29" name="CaixaDeTexto 28"/>
          <p:cNvSpPr txBox="1"/>
          <p:nvPr/>
        </p:nvSpPr>
        <p:spPr>
          <a:xfrm>
            <a:off x="4038600" y="262323"/>
            <a:ext cx="381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solidFill>
                  <a:srgbClr val="FF0000"/>
                </a:solidFill>
              </a:rPr>
              <a:t>12</a:t>
            </a:r>
            <a:endParaRPr lang="pt-BR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095" b="12074"/>
          <a:stretch/>
        </p:blipFill>
        <p:spPr>
          <a:xfrm>
            <a:off x="-152400" y="76200"/>
            <a:ext cx="9144000" cy="4583372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990600" y="5290066"/>
            <a:ext cx="6200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Selecione todas as linhas que deseja analisar e clique em “Start”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0"/>
            <a:ext cx="2971800" cy="3962400"/>
          </a:xfrm>
        </p:spPr>
      </p:pic>
      <p:sp>
        <p:nvSpPr>
          <p:cNvPr id="5" name="CaixaDeTexto 4"/>
          <p:cNvSpPr txBox="1"/>
          <p:nvPr/>
        </p:nvSpPr>
        <p:spPr>
          <a:xfrm>
            <a:off x="4267200" y="228600"/>
            <a:ext cx="44196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t-BR" dirty="0" smtClean="0"/>
              <a:t>Nesta interface é possível escolher onde os resultados serão salvos e qual será o nome da pasta.</a:t>
            </a:r>
          </a:p>
          <a:p>
            <a:pPr algn="just">
              <a:spcAft>
                <a:spcPts val="600"/>
              </a:spcAft>
            </a:pPr>
            <a:r>
              <a:rPr lang="pt-BR" dirty="0" smtClean="0"/>
              <a:t>- Folder </a:t>
            </a:r>
            <a:r>
              <a:rPr lang="pt-BR" dirty="0" err="1" smtClean="0"/>
              <a:t>name</a:t>
            </a:r>
            <a:r>
              <a:rPr lang="pt-BR" dirty="0" smtClean="0"/>
              <a:t>: </a:t>
            </a:r>
            <a:r>
              <a:rPr lang="pt-BR" dirty="0" err="1" smtClean="0"/>
              <a:t>data_algo</a:t>
            </a:r>
            <a:r>
              <a:rPr lang="pt-BR" dirty="0" smtClean="0"/>
              <a:t> que identifique as amostras</a:t>
            </a:r>
          </a:p>
          <a:p>
            <a:pPr algn="just">
              <a:spcAft>
                <a:spcPts val="600"/>
              </a:spcAft>
            </a:pPr>
            <a:r>
              <a:rPr lang="pt-BR" dirty="0" smtClean="0"/>
              <a:t>- File </a:t>
            </a:r>
            <a:r>
              <a:rPr lang="pt-BR" dirty="0" err="1" smtClean="0"/>
              <a:t>name</a:t>
            </a:r>
            <a:r>
              <a:rPr lang="pt-BR" dirty="0" smtClean="0"/>
              <a:t>: nome que julgar adequado</a:t>
            </a:r>
          </a:p>
          <a:p>
            <a:pPr algn="just">
              <a:spcAft>
                <a:spcPts val="600"/>
              </a:spcAft>
            </a:pPr>
            <a:r>
              <a:rPr lang="pt-BR" dirty="0" smtClean="0"/>
              <a:t>- Em “</a:t>
            </a:r>
            <a:r>
              <a:rPr lang="pt-BR" dirty="0" err="1" smtClean="0"/>
              <a:t>pre</a:t>
            </a:r>
            <a:r>
              <a:rPr lang="pt-BR" dirty="0" smtClean="0"/>
              <a:t>” e “post” é possível inserir ao nome alguma descrição antes (e.g., </a:t>
            </a:r>
            <a:r>
              <a:rPr lang="pt-BR" dirty="0" err="1" smtClean="0"/>
              <a:t>identifier</a:t>
            </a:r>
            <a:r>
              <a:rPr lang="pt-BR" dirty="0" smtClean="0"/>
              <a:t> 1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) e depois (e.g., </a:t>
            </a:r>
            <a:r>
              <a:rPr lang="pt-BR" dirty="0" err="1" smtClean="0"/>
              <a:t>Identifier</a:t>
            </a:r>
            <a:r>
              <a:rPr lang="pt-BR" dirty="0" smtClean="0"/>
              <a:t> 2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  <a:r>
              <a:rPr lang="pt-BR" dirty="0" smtClean="0"/>
              <a:t>).</a:t>
            </a:r>
          </a:p>
          <a:p>
            <a:pPr algn="just">
              <a:spcAft>
                <a:spcPts val="600"/>
              </a:spcAft>
            </a:pPr>
            <a:r>
              <a:rPr lang="pt-BR" dirty="0" smtClean="0"/>
              <a:t>- Clique “ok”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398699"/>
            <a:ext cx="2572603" cy="3430137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3352" y="3424857"/>
            <a:ext cx="2571750" cy="3429000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4800600" y="4495800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7848600" y="47360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5817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96" y="381000"/>
            <a:ext cx="2457450" cy="3276600"/>
          </a:xfrm>
        </p:spPr>
      </p:pic>
      <p:sp>
        <p:nvSpPr>
          <p:cNvPr id="5" name="CaixaDeTexto 4"/>
          <p:cNvSpPr txBox="1"/>
          <p:nvPr/>
        </p:nvSpPr>
        <p:spPr>
          <a:xfrm>
            <a:off x="3276600" y="455474"/>
            <a:ext cx="533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Quando o software aciona o enchimento do pequeno reservatório (em baixo dos </a:t>
            </a:r>
            <a:r>
              <a:rPr lang="pt-BR" dirty="0" err="1" smtClean="0"/>
              <a:t>traps</a:t>
            </a:r>
            <a:r>
              <a:rPr lang="pt-BR" dirty="0" smtClean="0"/>
              <a:t>) com LN2, é normal haver um congelamento em volta das tubulações do cilindro de LN2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/>
              <a:t> </a:t>
            </a:r>
            <a:r>
              <a:rPr lang="pt-BR" dirty="0" smtClean="0"/>
              <a:t>e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  <a:r>
              <a:rPr lang="pt-BR" dirty="0" smtClean="0"/>
              <a:t> e do pequeno reservatório </a:t>
            </a:r>
            <a:r>
              <a:rPr lang="pt-BR" b="1" dirty="0" smtClean="0">
                <a:solidFill>
                  <a:srgbClr val="FF0000"/>
                </a:solidFill>
              </a:rPr>
              <a:t>3 </a:t>
            </a:r>
            <a:r>
              <a:rPr lang="pt-BR" dirty="0" smtClean="0"/>
              <a:t>(ao longo da análise, pode chegar a ficar com bem mais gelo que na fato).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590800"/>
            <a:ext cx="3053971" cy="407196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221" y="3124200"/>
            <a:ext cx="2571750" cy="34290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1431877" y="2400300"/>
            <a:ext cx="777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 (t1)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 flipH="1">
            <a:off x="2438400" y="4970460"/>
            <a:ext cx="1076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 (t1 + x)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6216271" y="4626780"/>
            <a:ext cx="329821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676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79400"/>
            <a:ext cx="2590800" cy="3454400"/>
          </a:xfrm>
        </p:spPr>
      </p:pic>
      <p:sp>
        <p:nvSpPr>
          <p:cNvPr id="5" name="CaixaDeTexto 4"/>
          <p:cNvSpPr txBox="1"/>
          <p:nvPr/>
        </p:nvSpPr>
        <p:spPr>
          <a:xfrm>
            <a:off x="3124200" y="304800"/>
            <a:ext cx="5641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Quando o software aciona o cilindro de LN2 a luz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 do painel esquerdo deve acender, e na interface do Kiel IV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  <a:r>
              <a:rPr lang="pt-BR" dirty="0" smtClean="0"/>
              <a:t> aumentará até 100¨% . Quando atinge 100, a luz do painel deve apagar </a:t>
            </a:r>
            <a:r>
              <a:rPr lang="pt-BR" b="1" dirty="0" smtClean="0">
                <a:solidFill>
                  <a:srgbClr val="FF0000"/>
                </a:solidFill>
              </a:rPr>
              <a:t>3</a:t>
            </a:r>
            <a:r>
              <a:rPr lang="pt-BR" dirty="0" smtClean="0"/>
              <a:t>.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097" y="2419529"/>
            <a:ext cx="2357303" cy="3143071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971800"/>
            <a:ext cx="2743200" cy="36576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990600" y="1587142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9" name="CaixaDeTexto 8"/>
          <p:cNvSpPr txBox="1"/>
          <p:nvPr/>
        </p:nvSpPr>
        <p:spPr>
          <a:xfrm>
            <a:off x="4114800" y="3533022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7086600" y="4343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3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3" name="Elipse 12"/>
          <p:cNvSpPr/>
          <p:nvPr/>
        </p:nvSpPr>
        <p:spPr>
          <a:xfrm>
            <a:off x="7086600" y="4712732"/>
            <a:ext cx="3048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/>
          <p:cNvSpPr/>
          <p:nvPr/>
        </p:nvSpPr>
        <p:spPr>
          <a:xfrm>
            <a:off x="990600" y="1905000"/>
            <a:ext cx="304800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676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00600" y="-76200"/>
            <a:ext cx="4267200" cy="1143000"/>
          </a:xfrm>
        </p:spPr>
        <p:txBody>
          <a:bodyPr>
            <a:noAutofit/>
          </a:bodyPr>
          <a:lstStyle/>
          <a:p>
            <a:pPr algn="just"/>
            <a:r>
              <a:rPr lang="pt-BR" sz="2400" dirty="0" smtClean="0"/>
              <a:t>Checando primeiros resultados</a:t>
            </a:r>
            <a:endParaRPr lang="pt-BR" sz="24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8" r="11517" b="32056"/>
          <a:stretch/>
        </p:blipFill>
        <p:spPr>
          <a:xfrm>
            <a:off x="13648" y="762000"/>
            <a:ext cx="4800600" cy="1747939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94" b="43433"/>
          <a:stretch/>
        </p:blipFill>
        <p:spPr>
          <a:xfrm>
            <a:off x="228600" y="5417024"/>
            <a:ext cx="7179471" cy="13716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28600" y="2750165"/>
            <a:ext cx="861059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sz="1600" dirty="0" smtClean="0"/>
              <a:t>- </a:t>
            </a:r>
            <a:r>
              <a:rPr lang="pt-BR" sz="1600" dirty="0" err="1" smtClean="0"/>
              <a:t>Mean</a:t>
            </a:r>
            <a:r>
              <a:rPr lang="pt-BR" sz="1600" dirty="0" smtClean="0"/>
              <a:t> </a:t>
            </a:r>
            <a:r>
              <a:rPr lang="pt-BR" sz="1600" b="1" dirty="0" smtClean="0">
                <a:solidFill>
                  <a:srgbClr val="FF0000"/>
                </a:solidFill>
              </a:rPr>
              <a:t>1</a:t>
            </a:r>
            <a:r>
              <a:rPr lang="pt-BR" sz="1600" dirty="0" smtClean="0"/>
              <a:t>: média das 8 medidas de uma certa amostra (d13C e d18O).</a:t>
            </a:r>
          </a:p>
          <a:p>
            <a:pPr algn="just">
              <a:spcAft>
                <a:spcPts val="1200"/>
              </a:spcAft>
            </a:pPr>
            <a:r>
              <a:rPr lang="pt-BR" sz="1600" dirty="0" smtClean="0"/>
              <a:t>- </a:t>
            </a:r>
            <a:r>
              <a:rPr lang="pt-BR" sz="1600" dirty="0" err="1" smtClean="0"/>
              <a:t>Mean</a:t>
            </a:r>
            <a:r>
              <a:rPr lang="pt-BR" sz="1600" dirty="0" smtClean="0"/>
              <a:t> </a:t>
            </a:r>
            <a:r>
              <a:rPr lang="pt-BR" sz="1600" b="1" dirty="0" smtClean="0">
                <a:solidFill>
                  <a:srgbClr val="FF0000"/>
                </a:solidFill>
              </a:rPr>
              <a:t>2</a:t>
            </a:r>
            <a:r>
              <a:rPr lang="pt-BR" sz="1600" dirty="0" smtClean="0"/>
              <a:t>: média das 8 medidas de 4 amostras rodadas </a:t>
            </a:r>
            <a:r>
              <a:rPr lang="pt-BR" sz="1600" dirty="0"/>
              <a:t>(d13C e d18O</a:t>
            </a:r>
            <a:r>
              <a:rPr lang="pt-BR" sz="1600" dirty="0" smtClean="0"/>
              <a:t>).</a:t>
            </a:r>
          </a:p>
          <a:p>
            <a:pPr algn="just">
              <a:spcAft>
                <a:spcPts val="1200"/>
              </a:spcAft>
            </a:pPr>
            <a:r>
              <a:rPr lang="pt-BR" sz="1600" dirty="0" smtClean="0"/>
              <a:t>-</a:t>
            </a:r>
            <a:r>
              <a:rPr lang="pt-BR" sz="1600" b="1" dirty="0" smtClean="0">
                <a:solidFill>
                  <a:srgbClr val="FF0000"/>
                </a:solidFill>
              </a:rPr>
              <a:t> 3</a:t>
            </a:r>
            <a:r>
              <a:rPr lang="pt-BR" sz="1600" dirty="0" smtClean="0"/>
              <a:t>: desvio padrão entre amostras (desvio padrão da média das 8 medidas das 4 amostras rodadas) </a:t>
            </a:r>
            <a:r>
              <a:rPr lang="pt-BR" sz="1600" dirty="0"/>
              <a:t>(</a:t>
            </a:r>
            <a:r>
              <a:rPr lang="pt-BR" sz="1600" dirty="0" smtClean="0"/>
              <a:t>d13C = </a:t>
            </a:r>
            <a:r>
              <a:rPr lang="pt-BR" sz="1600" dirty="0" err="1" smtClean="0"/>
              <a:t>ca</a:t>
            </a:r>
            <a:r>
              <a:rPr lang="pt-BR" sz="1600" dirty="0" smtClean="0"/>
              <a:t>. x / d18O = </a:t>
            </a:r>
            <a:r>
              <a:rPr lang="pt-BR" sz="1600" dirty="0" err="1" smtClean="0"/>
              <a:t>ca</a:t>
            </a:r>
            <a:r>
              <a:rPr lang="pt-BR" sz="1600" dirty="0" smtClean="0"/>
              <a:t>. y). </a:t>
            </a:r>
          </a:p>
          <a:p>
            <a:pPr algn="just">
              <a:spcAft>
                <a:spcPts val="1200"/>
              </a:spcAft>
            </a:pPr>
            <a:r>
              <a:rPr lang="pt-BR" sz="1600" dirty="0" smtClean="0"/>
              <a:t>- </a:t>
            </a:r>
            <a:r>
              <a:rPr lang="pt-BR" sz="1600" dirty="0" err="1" smtClean="0"/>
              <a:t>Std</a:t>
            </a:r>
            <a:r>
              <a:rPr lang="pt-BR" sz="1600" dirty="0" smtClean="0"/>
              <a:t>. Devia. </a:t>
            </a:r>
            <a:r>
              <a:rPr lang="pt-BR" sz="1600" b="1" dirty="0" smtClean="0">
                <a:solidFill>
                  <a:srgbClr val="FF0000"/>
                </a:solidFill>
              </a:rPr>
              <a:t>4</a:t>
            </a:r>
            <a:r>
              <a:rPr lang="pt-BR" sz="1600" dirty="0" smtClean="0"/>
              <a:t>: desvio padrão interno de uma certa amostra (das 8 medidas, nas quais foram comparados os valores do CO2a e CO2r) </a:t>
            </a:r>
            <a:r>
              <a:rPr lang="pt-BR" sz="1600" dirty="0"/>
              <a:t>(</a:t>
            </a:r>
            <a:r>
              <a:rPr lang="pt-BR" sz="1600" dirty="0" smtClean="0"/>
              <a:t>d13C = </a:t>
            </a:r>
            <a:r>
              <a:rPr lang="pt-BR" sz="1600" dirty="0" err="1" smtClean="0"/>
              <a:t>ca</a:t>
            </a:r>
            <a:r>
              <a:rPr lang="pt-BR" sz="1600" dirty="0" smtClean="0"/>
              <a:t>. x / d18O = </a:t>
            </a:r>
            <a:r>
              <a:rPr lang="pt-BR" sz="1600" dirty="0" err="1" smtClean="0"/>
              <a:t>ca</a:t>
            </a:r>
            <a:r>
              <a:rPr lang="pt-BR" sz="1600" dirty="0" smtClean="0"/>
              <a:t>. y).</a:t>
            </a:r>
          </a:p>
          <a:p>
            <a:pPr algn="just">
              <a:spcAft>
                <a:spcPts val="1200"/>
              </a:spcAft>
            </a:pPr>
            <a:r>
              <a:rPr lang="pt-BR" sz="1600" dirty="0" smtClean="0"/>
              <a:t>- </a:t>
            </a:r>
            <a:r>
              <a:rPr lang="pt-BR" sz="1600" dirty="0" err="1" smtClean="0"/>
              <a:t>Std</a:t>
            </a:r>
            <a:r>
              <a:rPr lang="pt-BR" sz="1600" dirty="0"/>
              <a:t>. Devia. </a:t>
            </a:r>
            <a:r>
              <a:rPr lang="pt-BR" sz="1600" b="1" dirty="0" smtClean="0">
                <a:solidFill>
                  <a:srgbClr val="FF0000"/>
                </a:solidFill>
              </a:rPr>
              <a:t>5</a:t>
            </a:r>
            <a:r>
              <a:rPr lang="pt-BR" sz="1600" dirty="0" smtClean="0"/>
              <a:t>: </a:t>
            </a:r>
            <a:r>
              <a:rPr lang="pt-BR" sz="1600" dirty="0"/>
              <a:t>desvio padrão interno </a:t>
            </a:r>
            <a:r>
              <a:rPr lang="pt-BR" sz="1600" dirty="0" smtClean="0"/>
              <a:t>de 4 amostras rodadas (</a:t>
            </a:r>
            <a:r>
              <a:rPr lang="pt-BR" sz="1600" dirty="0"/>
              <a:t>d13C e d18O).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914400" y="18404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1181100" y="1840468"/>
            <a:ext cx="5715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3048000" y="5943600"/>
            <a:ext cx="1905000" cy="48264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2971800" y="55742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790700" y="1840468"/>
            <a:ext cx="5715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2352453" y="1808202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4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2971800" y="63362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CaixaDeTexto 14"/>
          <p:cNvSpPr txBox="1"/>
          <p:nvPr/>
        </p:nvSpPr>
        <p:spPr>
          <a:xfrm>
            <a:off x="3962400" y="6324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CaixaDeTexto 15"/>
          <p:cNvSpPr txBox="1"/>
          <p:nvPr/>
        </p:nvSpPr>
        <p:spPr>
          <a:xfrm>
            <a:off x="7391400" y="6000255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5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5181599" y="5994358"/>
            <a:ext cx="2122967" cy="482642"/>
          </a:xfrm>
          <a:prstGeom prst="rect">
            <a:avLst/>
          </a:prstGeom>
          <a:noFill/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658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52400"/>
            <a:ext cx="3394472" cy="4525963"/>
          </a:xfr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52400"/>
            <a:ext cx="3409950" cy="4546600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76200" y="4800600"/>
            <a:ext cx="8763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/>
              <a:t>Caso precisar parar a análise por algum motivo, no </a:t>
            </a:r>
            <a:r>
              <a:rPr lang="pt-BR" sz="1600" dirty="0" err="1" smtClean="0"/>
              <a:t>Acquisition</a:t>
            </a:r>
            <a:r>
              <a:rPr lang="pt-BR" sz="1600" dirty="0" smtClean="0"/>
              <a:t> clicar em </a:t>
            </a:r>
            <a:r>
              <a:rPr lang="pt-BR" sz="1600" b="1" dirty="0" smtClean="0">
                <a:solidFill>
                  <a:srgbClr val="FF0000"/>
                </a:solidFill>
              </a:rPr>
              <a:t>1</a:t>
            </a:r>
            <a:r>
              <a:rPr lang="pt-BR" sz="1600" dirty="0" smtClean="0"/>
              <a:t> e </a:t>
            </a:r>
            <a:r>
              <a:rPr lang="pt-BR" sz="1600" b="1" dirty="0" smtClean="0">
                <a:solidFill>
                  <a:srgbClr val="FF0000"/>
                </a:solidFill>
              </a:rPr>
              <a:t>2</a:t>
            </a:r>
            <a:r>
              <a:rPr lang="pt-BR" sz="1600" dirty="0" smtClean="0"/>
              <a:t>. Um exemplo de necessidade de parar a análise é o sensor do painel do slide anterior não responder de forma adequada e, por exemplo, não entender quando é para parar de mandar LN2 para o pequeno reservatório. Este caso seria um problema do software e para solucioná-lo será necessário parar a análise. </a:t>
            </a:r>
          </a:p>
          <a:p>
            <a:pPr algn="just"/>
            <a:r>
              <a:rPr lang="pt-BR" sz="1600" dirty="0" smtClean="0"/>
              <a:t>Para exemplos mais extremos em que haja necessidade de desligar também o Kiel IV e MAT253:</a:t>
            </a:r>
          </a:p>
          <a:p>
            <a:pPr marL="285750" indent="-285750" algn="just">
              <a:buFontTx/>
              <a:buChar char="-"/>
            </a:pPr>
            <a:r>
              <a:rPr lang="pt-BR" sz="1600" dirty="0" smtClean="0"/>
              <a:t>Desligar os botões dos painéis de liga/desliga de ambos os equipamentos.</a:t>
            </a:r>
          </a:p>
          <a:p>
            <a:pPr marL="285750" indent="-285750" algn="just">
              <a:buFontTx/>
              <a:buChar char="-"/>
            </a:pPr>
            <a:r>
              <a:rPr lang="pt-BR" sz="1600" dirty="0" smtClean="0"/>
              <a:t>Na traseira de ambos equipamentos tem uma chave geral que também pode ser desligada.</a:t>
            </a:r>
            <a:endParaRPr lang="pt-BR" sz="16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1447800" y="22214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7467600" y="28956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43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85800"/>
            <a:ext cx="3394472" cy="4525963"/>
          </a:xfrm>
        </p:spPr>
      </p:pic>
      <p:sp>
        <p:nvSpPr>
          <p:cNvPr id="5" name="CaixaDeTexto 4"/>
          <p:cNvSpPr txBox="1"/>
          <p:nvPr/>
        </p:nvSpPr>
        <p:spPr>
          <a:xfrm>
            <a:off x="4648200" y="1676400"/>
            <a:ext cx="3886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Essa é a altura ideal, i.e., 11,7 cm, para esse sensor. Ele funciona similarmente a uma boia de caixa de água, i.e., controla o volume de LN2 que tem dentro do pequeno reservatório (para saber quando já encheu e para evitar vazamento).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16764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304800"/>
            <a:ext cx="8229600" cy="1143000"/>
          </a:xfrm>
        </p:spPr>
        <p:txBody>
          <a:bodyPr>
            <a:normAutofit/>
          </a:bodyPr>
          <a:lstStyle/>
          <a:p>
            <a:r>
              <a:rPr lang="pt-BR" sz="3600" dirty="0" smtClean="0"/>
              <a:t>Recarga de LN2</a:t>
            </a:r>
            <a:endParaRPr lang="pt-BR" sz="36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04800" y="533400"/>
            <a:ext cx="8534400" cy="60198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pt-BR" sz="1600" dirty="0" smtClean="0"/>
              <a:t>- Tirar mangueira do ralo e prendê-la na janela (com o cano voltado para fora, pode sair água).</a:t>
            </a:r>
          </a:p>
          <a:p>
            <a:pPr marL="0" indent="0" algn="just">
              <a:buNone/>
            </a:pPr>
            <a:r>
              <a:rPr lang="pt-BR" sz="1600" dirty="0" smtClean="0"/>
              <a:t>- Com luvas (azul) e jaleco, abrir válvula vermelha frontal vagarosamente e esperar aliviar toda a pressão (leva </a:t>
            </a:r>
            <a:r>
              <a:rPr lang="pt-BR" sz="1600" dirty="0" err="1" smtClean="0"/>
              <a:t>ca</a:t>
            </a:r>
            <a:r>
              <a:rPr lang="pt-BR" sz="1600" dirty="0" smtClean="0"/>
              <a:t>. 5 min) (mesmo após aliviar a pressão continuará saindo fumaça branca - N2).</a:t>
            </a:r>
          </a:p>
          <a:p>
            <a:pPr marL="0" indent="0" algn="just">
              <a:buNone/>
            </a:pPr>
            <a:r>
              <a:rPr lang="pt-BR" sz="1600" dirty="0" smtClean="0"/>
              <a:t>- Soltar borboleta da presilha, girar parafuso para direita e remover a presilha.</a:t>
            </a:r>
          </a:p>
          <a:p>
            <a:pPr marL="0" indent="0" algn="just">
              <a:buNone/>
            </a:pPr>
            <a:r>
              <a:rPr lang="pt-BR" sz="1600" dirty="0" smtClean="0"/>
              <a:t>- Retirar toda a parte solta e o anel + borracha e colocar tudo no chão.</a:t>
            </a:r>
          </a:p>
          <a:p>
            <a:pPr marL="0" indent="0" algn="just">
              <a:buNone/>
            </a:pPr>
            <a:r>
              <a:rPr lang="pt-BR" sz="1600" dirty="0" smtClean="0"/>
              <a:t>- Tampar o reservatório.</a:t>
            </a:r>
          </a:p>
          <a:p>
            <a:pPr marL="0" indent="0" algn="just">
              <a:buNone/>
            </a:pPr>
            <a:r>
              <a:rPr lang="pt-BR" sz="1600" dirty="0" smtClean="0"/>
              <a:t>- Destravar as rodas do reservatório e transportá-lo até o lado de fora da sala (com os relógios voltados para a sala, para evitar que o reservatório dos fornecedores colidam com eles).</a:t>
            </a:r>
          </a:p>
          <a:p>
            <a:pPr marL="0" indent="0" algn="just">
              <a:buNone/>
            </a:pPr>
            <a:r>
              <a:rPr lang="pt-BR" sz="1600" dirty="0" smtClean="0"/>
              <a:t>- Não encher o reservatório até a boca (irá vazar quando colocar a tubulação de volta), o ideal é encher até o nível inferior do gargalo.</a:t>
            </a:r>
          </a:p>
          <a:p>
            <a:pPr marL="0" indent="0" algn="just">
              <a:buNone/>
            </a:pPr>
            <a:r>
              <a:rPr lang="pt-BR" sz="1600" dirty="0" smtClean="0"/>
              <a:t>- Tampar o reservatório.</a:t>
            </a:r>
          </a:p>
          <a:p>
            <a:pPr marL="0" indent="0" algn="just">
              <a:buNone/>
            </a:pPr>
            <a:r>
              <a:rPr lang="pt-BR" sz="1600" dirty="0" smtClean="0"/>
              <a:t>- Transportar o reservatório para seu local original e travar as rodas.</a:t>
            </a:r>
          </a:p>
          <a:p>
            <a:pPr marL="0" indent="0" algn="just">
              <a:buNone/>
            </a:pPr>
            <a:r>
              <a:rPr lang="pt-BR" sz="1600" dirty="0" smtClean="0"/>
              <a:t>- Colocar novamente o anel + borracha (atentar para não ficar mal colocado, pois provavelmente implicará em vazamento) e as partes que estão no chão.</a:t>
            </a:r>
          </a:p>
          <a:p>
            <a:pPr marL="0" indent="0" algn="just">
              <a:buNone/>
            </a:pPr>
            <a:r>
              <a:rPr lang="pt-BR" sz="1600" dirty="0" smtClean="0"/>
              <a:t>- Colocar novamente a presilha e rosquear a borboleta (não é necessário apertar muito). Nessa etapa pode haver deslocamento do anel + borracha </a:t>
            </a:r>
            <a:r>
              <a:rPr lang="pt-BR" sz="1600" dirty="0"/>
              <a:t>(atentar para </a:t>
            </a:r>
            <a:r>
              <a:rPr lang="pt-BR" sz="1600" dirty="0" smtClean="0"/>
              <a:t>que isso não ocorra, pois </a:t>
            </a:r>
            <a:r>
              <a:rPr lang="pt-BR" sz="1600" dirty="0"/>
              <a:t>provavelmente implicará em vazamento</a:t>
            </a:r>
            <a:r>
              <a:rPr lang="pt-BR" sz="1600" dirty="0" smtClean="0"/>
              <a:t>).</a:t>
            </a:r>
          </a:p>
          <a:p>
            <a:pPr marL="0" indent="0" algn="just">
              <a:buNone/>
            </a:pPr>
            <a:r>
              <a:rPr lang="pt-BR" sz="1600" dirty="0" smtClean="0"/>
              <a:t>- Fechar a válvula vermelha até o fim e voltar a mangueira para o ralo.</a:t>
            </a:r>
          </a:p>
          <a:p>
            <a:pPr marL="0" indent="0" algn="just">
              <a:buNone/>
            </a:pPr>
            <a:r>
              <a:rPr lang="pt-BR" sz="1600" dirty="0" smtClean="0"/>
              <a:t>- Demora horas até que os ponteiros dos relógios do reservatório acusem pressão e volume (é normal que a haste de metal superior faça barulho semelhante a panela de pressão enquanto o reservatório está sendo pressurizado). Mas, caso não acusar, algum vazamento está ocorrendo (provavelmente em virtude do mal posicionamento do anel + borracha) e será necessário desmontar e </a:t>
            </a:r>
            <a:r>
              <a:rPr lang="pt-BR" sz="1600" dirty="0"/>
              <a:t>montar</a:t>
            </a:r>
            <a:r>
              <a:rPr lang="pt-BR" sz="1600" dirty="0" smtClean="0"/>
              <a:t> novamente.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842618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pt-BR" dirty="0" err="1" smtClean="0"/>
              <a:t>Backing</a:t>
            </a:r>
            <a:r>
              <a:rPr lang="pt-BR" dirty="0" smtClean="0"/>
              <a:t> externo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29200" y="1600201"/>
            <a:ext cx="3429000" cy="3352799"/>
          </a:xfrm>
        </p:spPr>
        <p:txBody>
          <a:bodyPr>
            <a:normAutofit/>
          </a:bodyPr>
          <a:lstStyle/>
          <a:p>
            <a:pPr marL="0" indent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 smtClean="0"/>
              <a:t>Como devem estar as válvulas dos equipamentos </a:t>
            </a:r>
            <a:endParaRPr lang="pt-BR" b="1" dirty="0" smtClean="0">
              <a:solidFill>
                <a:srgbClr val="FF0000"/>
              </a:solidFill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02" y="1112671"/>
            <a:ext cx="4080397" cy="544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76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57200" y="-1524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mtClean="0"/>
              <a:t>Backing externo</a:t>
            </a:r>
            <a:endParaRPr lang="pt-BR" dirty="0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333" y="838200"/>
            <a:ext cx="2971800" cy="3962400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2692400"/>
            <a:ext cx="3124200" cy="4165600"/>
          </a:xfrm>
          <a:prstGeom prst="rect">
            <a:avLst/>
          </a:prstGeom>
        </p:spPr>
      </p:pic>
      <p:sp>
        <p:nvSpPr>
          <p:cNvPr id="8" name="CaixaDeTexto 7"/>
          <p:cNvSpPr txBox="1"/>
          <p:nvPr/>
        </p:nvSpPr>
        <p:spPr>
          <a:xfrm>
            <a:off x="4343400" y="121920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Conectar um dos cabos vermelhos em </a:t>
            </a:r>
            <a:r>
              <a:rPr lang="pt-BR" b="1" dirty="0" smtClean="0">
                <a:solidFill>
                  <a:srgbClr val="FF0000"/>
                </a:solidFill>
              </a:rPr>
              <a:t>1</a:t>
            </a:r>
            <a:r>
              <a:rPr lang="pt-BR" dirty="0" smtClean="0"/>
              <a:t> (ponta do capilar metálico que sai do </a:t>
            </a:r>
            <a:r>
              <a:rPr lang="pt-BR" dirty="0" err="1" smtClean="0"/>
              <a:t>trap</a:t>
            </a:r>
            <a:r>
              <a:rPr lang="pt-BR" dirty="0" smtClean="0"/>
              <a:t> 2, no Kiel IV)</a:t>
            </a:r>
            <a:endParaRPr lang="pt-BR" dirty="0"/>
          </a:p>
        </p:txBody>
      </p:sp>
      <p:sp>
        <p:nvSpPr>
          <p:cNvPr id="9" name="CaixaDeTexto 8"/>
          <p:cNvSpPr txBox="1"/>
          <p:nvPr/>
        </p:nvSpPr>
        <p:spPr>
          <a:xfrm>
            <a:off x="1981200" y="25908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7010400" y="4431268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762000" y="532507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 smtClean="0"/>
              <a:t>Conectar o outro cabo vermelho em </a:t>
            </a:r>
            <a:r>
              <a:rPr lang="pt-BR" b="1" dirty="0" smtClean="0">
                <a:solidFill>
                  <a:srgbClr val="FF0000"/>
                </a:solidFill>
              </a:rPr>
              <a:t>2</a:t>
            </a:r>
            <a:r>
              <a:rPr lang="pt-BR" dirty="0" smtClean="0"/>
              <a:t> (ponta do capilar metálico que entra no MAT253)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240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Peak</a:t>
            </a:r>
            <a:r>
              <a:rPr lang="pt-BR" dirty="0" smtClean="0"/>
              <a:t> </a:t>
            </a:r>
            <a:r>
              <a:rPr lang="pt-BR" dirty="0" err="1" smtClean="0"/>
              <a:t>shape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86400" y="1600200"/>
            <a:ext cx="33528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BR" sz="2000" dirty="0" smtClean="0"/>
              <a:t>Teste para saber se a forma da curva </a:t>
            </a:r>
            <a:r>
              <a:rPr lang="pt-BR" sz="2000" b="1" dirty="0" smtClean="0">
                <a:solidFill>
                  <a:srgbClr val="FF0000"/>
                </a:solidFill>
              </a:rPr>
              <a:t>1</a:t>
            </a:r>
            <a:r>
              <a:rPr lang="pt-BR" sz="2000" dirty="0" smtClean="0"/>
              <a:t> está adequada. A forma adequada é exatamente a da figura, com um platô achatado na extremidade superior. Em </a:t>
            </a:r>
            <a:r>
              <a:rPr lang="pt-BR" sz="2000" b="1" dirty="0" smtClean="0">
                <a:solidFill>
                  <a:srgbClr val="FF0000"/>
                </a:solidFill>
              </a:rPr>
              <a:t>2</a:t>
            </a:r>
            <a:r>
              <a:rPr lang="pt-BR" sz="2000" dirty="0" smtClean="0"/>
              <a:t> foi dado zoom de </a:t>
            </a:r>
            <a:r>
              <a:rPr lang="pt-BR" sz="2000" b="1" dirty="0" smtClean="0">
                <a:solidFill>
                  <a:srgbClr val="FF0000"/>
                </a:solidFill>
              </a:rPr>
              <a:t>1</a:t>
            </a:r>
            <a:r>
              <a:rPr lang="pt-BR" sz="2000" dirty="0" smtClean="0"/>
              <a:t>.</a:t>
            </a:r>
            <a:endParaRPr lang="pt-BR" sz="20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676400"/>
            <a:ext cx="5181600" cy="3886200"/>
          </a:xfrm>
          <a:prstGeom prst="rect">
            <a:avLst/>
          </a:prstGeom>
        </p:spPr>
      </p:pic>
      <p:sp>
        <p:nvSpPr>
          <p:cNvPr id="5" name="CaixaDeTexto 4"/>
          <p:cNvSpPr txBox="1"/>
          <p:nvPr/>
        </p:nvSpPr>
        <p:spPr>
          <a:xfrm>
            <a:off x="762000" y="25908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971800" y="25908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2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55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Máquina de lavar </a:t>
            </a:r>
            <a:r>
              <a:rPr lang="pt-BR" dirty="0" err="1" smtClean="0"/>
              <a:t>vials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733800" y="1524000"/>
            <a:ext cx="4953000" cy="2743200"/>
          </a:xfrm>
        </p:spPr>
        <p:txBody>
          <a:bodyPr>
            <a:noAutofit/>
          </a:bodyPr>
          <a:lstStyle/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600" dirty="0" smtClean="0"/>
              <a:t>- Para abrir a tampa e posicionar os </a:t>
            </a:r>
            <a:r>
              <a:rPr lang="pt-BR" sz="1600" dirty="0" err="1" smtClean="0"/>
              <a:t>vials</a:t>
            </a:r>
            <a:r>
              <a:rPr lang="pt-BR" sz="1600" dirty="0" smtClean="0"/>
              <a:t> nas hastes de metal é preciso que o botão de liga/desliga </a:t>
            </a:r>
            <a:r>
              <a:rPr lang="pt-BR" sz="1600" b="1" dirty="0" smtClean="0">
                <a:solidFill>
                  <a:srgbClr val="FF0000"/>
                </a:solidFill>
              </a:rPr>
              <a:t>1</a:t>
            </a:r>
            <a:r>
              <a:rPr lang="pt-BR" sz="1600" dirty="0" smtClean="0"/>
              <a:t> esteja ligado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600" dirty="0" smtClean="0"/>
              <a:t>- Após fechar a tampa, girar botão </a:t>
            </a:r>
            <a:r>
              <a:rPr lang="pt-BR" sz="1600" b="1" dirty="0" smtClean="0">
                <a:solidFill>
                  <a:srgbClr val="FF0000"/>
                </a:solidFill>
              </a:rPr>
              <a:t>2</a:t>
            </a:r>
            <a:r>
              <a:rPr lang="pt-BR" sz="1600" dirty="0" smtClean="0"/>
              <a:t> até a marca F </a:t>
            </a:r>
            <a:r>
              <a:rPr lang="pt-BR" sz="1600" b="1" dirty="0" smtClean="0">
                <a:solidFill>
                  <a:srgbClr val="FF0000"/>
                </a:solidFill>
              </a:rPr>
              <a:t>3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600" dirty="0" smtClean="0"/>
              <a:t>- Em </a:t>
            </a:r>
            <a:r>
              <a:rPr lang="pt-BR" sz="1600" b="1" dirty="0" smtClean="0">
                <a:solidFill>
                  <a:srgbClr val="FF0000"/>
                </a:solidFill>
              </a:rPr>
              <a:t>4</a:t>
            </a:r>
            <a:r>
              <a:rPr lang="pt-BR" sz="1600" dirty="0" smtClean="0"/>
              <a:t> ajustar o tempo de secagem (e.g., 80 min) e em </a:t>
            </a:r>
            <a:r>
              <a:rPr lang="pt-BR" sz="1600" b="1" dirty="0" smtClean="0">
                <a:solidFill>
                  <a:srgbClr val="FF0000"/>
                </a:solidFill>
              </a:rPr>
              <a:t>5</a:t>
            </a:r>
            <a:r>
              <a:rPr lang="pt-BR" sz="1600" dirty="0" smtClean="0"/>
              <a:t> iniciar a lavagem</a:t>
            </a:r>
          </a:p>
          <a:p>
            <a:pPr marL="0" indent="0" algn="just">
              <a:spcBef>
                <a:spcPts val="0"/>
              </a:spcBef>
              <a:spcAft>
                <a:spcPts val="600"/>
              </a:spcAft>
              <a:buNone/>
            </a:pPr>
            <a:r>
              <a:rPr lang="pt-BR" sz="1600" dirty="0" smtClean="0"/>
              <a:t>- Após lavagem, caso não for utilizar os </a:t>
            </a:r>
            <a:r>
              <a:rPr lang="pt-BR" sz="1600" dirty="0" err="1" smtClean="0"/>
              <a:t>vials</a:t>
            </a:r>
            <a:r>
              <a:rPr lang="pt-BR" sz="1600" dirty="0" smtClean="0"/>
              <a:t> imediatamente, transferi-los para o rack de metal/acrílico/estante e estoca-los na estufa.  </a:t>
            </a:r>
            <a:endParaRPr lang="pt-BR" sz="1600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120" t="40780" r="25590" b="26583"/>
          <a:stretch/>
        </p:blipFill>
        <p:spPr>
          <a:xfrm>
            <a:off x="806454" y="1524000"/>
            <a:ext cx="1631946" cy="1470545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463" b="10846"/>
          <a:stretch/>
        </p:blipFill>
        <p:spPr>
          <a:xfrm>
            <a:off x="366253" y="4020404"/>
            <a:ext cx="2986547" cy="2456596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0" t="27977" b="16699"/>
          <a:stretch/>
        </p:blipFill>
        <p:spPr>
          <a:xfrm>
            <a:off x="4876800" y="4038600"/>
            <a:ext cx="3116240" cy="2447504"/>
          </a:xfrm>
          <a:prstGeom prst="rect">
            <a:avLst/>
          </a:prstGeom>
        </p:spPr>
      </p:pic>
      <p:sp>
        <p:nvSpPr>
          <p:cNvPr id="7" name="CaixaDeTexto 6"/>
          <p:cNvSpPr txBox="1"/>
          <p:nvPr/>
        </p:nvSpPr>
        <p:spPr>
          <a:xfrm>
            <a:off x="838200" y="1592239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1</a:t>
            </a:r>
            <a:endParaRPr lang="pt-BR" b="1" dirty="0">
              <a:solidFill>
                <a:srgbClr val="FF0000"/>
              </a:solidFill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1804935" y="487937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6629400" y="5486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983493" y="6097137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6629400" y="5867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FF0000"/>
                </a:solidFill>
              </a:rPr>
              <a:t>5</a:t>
            </a:r>
            <a:endParaRPr lang="pt-B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324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2212</Words>
  <Application>Microsoft Office PowerPoint</Application>
  <PresentationFormat>Apresentação na tela (4:3)</PresentationFormat>
  <Paragraphs>196</Paragraphs>
  <Slides>24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5" baseType="lpstr">
      <vt:lpstr>Tema do Office</vt:lpstr>
      <vt:lpstr>TUTORIAL</vt:lpstr>
      <vt:lpstr>Softwares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Checando primeiros resultados</vt:lpstr>
      <vt:lpstr>Apresentação do PowerPoint</vt:lpstr>
      <vt:lpstr>Apresentação do PowerPoint</vt:lpstr>
      <vt:lpstr>Recarga de LN2</vt:lpstr>
      <vt:lpstr>Backing externo</vt:lpstr>
      <vt:lpstr>Apresentação do PowerPoint</vt:lpstr>
      <vt:lpstr>Peak shape</vt:lpstr>
      <vt:lpstr>Máquina de lavar vials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Rodando amostras</dc:title>
  <dc:creator>Marilia</dc:creator>
  <cp:lastModifiedBy>Marilia</cp:lastModifiedBy>
  <cp:revision>40</cp:revision>
  <dcterms:created xsi:type="dcterms:W3CDTF">2016-03-31T20:48:37Z</dcterms:created>
  <dcterms:modified xsi:type="dcterms:W3CDTF">2016-10-05T02:39:29Z</dcterms:modified>
</cp:coreProperties>
</file>